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E46F51-5B3E-4C85-8B9C-1CF71E28B7B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35E0C4-EC33-4DF5-ADA9-FE51E3129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367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D118802-2BA0-6229-8164-270EF93A2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767D4D9-A47B-4020-6B9B-87B081166C85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70589FC3-4491-BD75-2C16-660DF0B71BBC}"/>
                </a:ext>
              </a:extLst>
            </p:cNvPr>
            <p:cNvSpPr/>
            <p:nvPr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B00DB918-F11D-F855-5478-ECB25A1AC3D1}"/>
                </a:ext>
              </a:extLst>
            </p:cNvPr>
            <p:cNvSpPr/>
            <p:nvPr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274" name="Subtitle 2">
            <a:extLst>
              <a:ext uri="{FF2B5EF4-FFF2-40B4-BE49-F238E27FC236}">
                <a16:creationId xmlns:a16="http://schemas.microsoft.com/office/drawing/2014/main" id="{74103396-CF0A-A808-BF1B-463C3EF7376E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>
                <a:latin typeface="EYInterstate" panose="0200050302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75" name="Title 4">
            <a:extLst>
              <a:ext uri="{FF2B5EF4-FFF2-40B4-BE49-F238E27FC236}">
                <a16:creationId xmlns:a16="http://schemas.microsoft.com/office/drawing/2014/main" id="{B57CD4DB-AED0-4F7E-41BA-02CA96598AE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89" name="Text Placeholder 288">
            <a:extLst>
              <a:ext uri="{FF2B5EF4-FFF2-40B4-BE49-F238E27FC236}">
                <a16:creationId xmlns:a16="http://schemas.microsoft.com/office/drawing/2014/main" id="{31D45A6D-135C-8C27-4F13-A3BC79AB3ED3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9BD7E01-359D-1FC6-6787-01223BEFFD8B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A56415E-1E34-8152-DED3-C43A498966C6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CA7BC5E-8BB1-73DE-ACB9-E9245A729EEA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1FDA0EF-DC27-3F28-F7C7-E071AA613643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5367C23-788B-F635-DBA9-04A381BC174A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AD4E5D8B-12B4-19F3-17D4-D12BF368FC85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730498B-4330-C2C1-7651-07131AC75C0A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0512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6B12E1A-8E1E-0958-37BB-9E97CE875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0E8BD61-2DD9-6340-EB16-98CFEA0A221D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038A11-FAB8-DE3A-2D5D-3D1F11925688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D45E8E5-E623-933A-074B-D3B9860ABECB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4CE2B77E-5DDA-CC5C-A575-69779E5794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2C2EB3B4-62C2-DB27-F905-7B5310DF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41B1F747-977A-C01C-9182-B92C691E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8B530EF-85AB-6D1A-3ADF-797F0F0B93E2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36BB563-B242-3A5E-0102-DCCD6B4FE7DA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5729063-1581-01FF-BF50-B7E2E93BA186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0BDE10B-BBAA-8C08-32D4-3C479E2A0DF1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F2E78C3-FCDE-3583-5FBC-978C8BBADED1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5" name="Freeform 296">
              <a:extLst>
                <a:ext uri="{FF2B5EF4-FFF2-40B4-BE49-F238E27FC236}">
                  <a16:creationId xmlns:a16="http://schemas.microsoft.com/office/drawing/2014/main" id="{DEFC433D-DFA6-C6DB-868B-0034B35505A8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2E107B5-E822-270B-0708-BE46AB76F434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9627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17D79C6-6616-1F9D-DA07-C906DABC9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D43938-5757-1C8A-B3BA-59EC353FB68E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D9FFF46-1307-653D-71BE-B22AA785158A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30CED5D-4ADD-A1CD-B282-7768F9F24B04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EA0D235-14A3-48C7-2BEC-F7D329BC23C0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1CDF276-42FB-D9C8-6510-20A339E1C66A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3158159-0447-5776-620B-A34EF8FAF79E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5" name="Freeform 296">
              <a:extLst>
                <a:ext uri="{FF2B5EF4-FFF2-40B4-BE49-F238E27FC236}">
                  <a16:creationId xmlns:a16="http://schemas.microsoft.com/office/drawing/2014/main" id="{16CAEF9E-0989-BBC5-FE04-5C4DE308A681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FBA717C-709D-4CF2-69A1-35049F03DA6B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5601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D5BBB5A-0446-3C14-B12C-56A5730E1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7C1D2CA-2DB1-76BC-DAFE-210631AEC288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5D0691C-4906-0013-2470-D6D221C0B62F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F75F352-9787-1EFD-ADC8-1CF372BE0EF6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5DDC5E6-A155-1313-62DA-9E5903EFF95D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21E3719-14F2-A5D9-0100-36829AC1FDF9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AB52CC8-DE2D-56AD-2E70-FD2CECE2E93A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6" name="Freeform 296">
              <a:extLst>
                <a:ext uri="{FF2B5EF4-FFF2-40B4-BE49-F238E27FC236}">
                  <a16:creationId xmlns:a16="http://schemas.microsoft.com/office/drawing/2014/main" id="{CE30210E-9E75-E8A3-54FE-D2EA96B37426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195540B-D103-E9F2-3395-C26EB3AC5855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5278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Wri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6FA399-654A-7130-1FF0-0F0197A98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38649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1272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3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44759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B01B256-70C6-9663-9CC6-1F22ADBAE7C3}"/>
              </a:ext>
            </a:extLst>
          </p:cNvPr>
          <p:cNvGrpSpPr/>
          <p:nvPr userDrawn="1"/>
        </p:nvGrpSpPr>
        <p:grpSpPr>
          <a:xfrm>
            <a:off x="485774" y="719508"/>
            <a:ext cx="5706110" cy="4360545"/>
            <a:chOff x="485774" y="719508"/>
            <a:chExt cx="5706110" cy="4360545"/>
          </a:xfrm>
        </p:grpSpPr>
        <p:sp>
          <p:nvSpPr>
            <p:cNvPr id="10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49784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7195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EB2775D-C14D-1FFE-E3E9-4E62DDA32301}"/>
              </a:ext>
            </a:extLst>
          </p:cNvPr>
          <p:cNvSpPr txBox="1"/>
          <p:nvPr userDrawn="1"/>
        </p:nvSpPr>
        <p:spPr>
          <a:xfrm>
            <a:off x="461984" y="5552404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FAE2F50B-78AF-04F3-4BFF-980630AF7A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3184" y="5966393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5473ED8-C1F4-379D-AE01-5E7A3D5F34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3184" y="6164011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812BC08D-D0F7-900D-1481-4C172F6BE56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983" y="5861846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5B130A-4E65-32BD-4CB8-C7E2B623FD74}"/>
              </a:ext>
            </a:extLst>
          </p:cNvPr>
          <p:cNvCxnSpPr>
            <a:cxnSpLocks/>
          </p:cNvCxnSpPr>
          <p:nvPr userDrawn="1"/>
        </p:nvCxnSpPr>
        <p:spPr>
          <a:xfrm>
            <a:off x="1333184" y="5656264"/>
            <a:ext cx="8122101" cy="0"/>
          </a:xfrm>
          <a:prstGeom prst="line">
            <a:avLst/>
          </a:prstGeom>
          <a:ln w="9525" cap="flat" cmpd="sng" algn="ctr">
            <a:solidFill>
              <a:srgbClr val="C4C4C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33A1DDC9-8AFD-ECA2-9E62-E11780594C94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25A177A-D694-36BA-65A8-D12417042F37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72B12E9-F251-23C3-C41F-BB00C32B51D7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6B751B9-E1E4-05FF-7543-A9390DFC335B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1416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8C8C68B-A00A-6004-FFCE-7536A75A9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713817A-1A0E-6215-C86F-711F6762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6D7E4E-2A81-A5AB-16CA-DBCEFBD5914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5E85AB4-8FA1-B410-BB86-A9E9BA120FB7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9B81680-EFFE-9C6F-720F-DB5A0582CA63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DF8F835-3AA8-3634-662C-738F71627BB1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677E25-8FD4-9E65-0EE4-CB04DE1963DA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382BC45-CC3A-DA8F-24D6-0CBCB66FB202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7" name="Freeform 296">
              <a:extLst>
                <a:ext uri="{FF2B5EF4-FFF2-40B4-BE49-F238E27FC236}">
                  <a16:creationId xmlns:a16="http://schemas.microsoft.com/office/drawing/2014/main" id="{1B59F876-F77B-C664-F983-F08AAE711A55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2BDBA83-43E0-C58A-A1A1-6E9EE7604E20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0257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B25F44-CAE3-AE0B-B97B-B0F6E4B43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A067759-C6C3-3B7B-ABF5-859A6A63528E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C99724B-50FD-5B78-B6B7-D645073026A7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F3333B-0B32-1559-415A-17213862D8A1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DBD9777-79EC-CED4-D0A6-2C1C06539E15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15BDE6A-B626-BC46-CB20-CED651EFD486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7D2D678-894E-1DF7-CFB4-330E0DE848BB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6A04233-4C8B-C75A-A882-C7B7190F4147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7" name="Freeform 296">
              <a:extLst>
                <a:ext uri="{FF2B5EF4-FFF2-40B4-BE49-F238E27FC236}">
                  <a16:creationId xmlns:a16="http://schemas.microsoft.com/office/drawing/2014/main" id="{A0DDA836-6507-02D1-0E8D-5EF656D5A3A0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C5C3F12-D44B-C406-55B9-2AD369363AC1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4673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8D4830-1AF6-9C3D-EC53-70FC3C7CB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B984E4-95BA-5123-1CFC-48CE97FD8196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63327741-8A1F-B922-5F7C-0313A67883A4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BC38446-6E92-CA10-A0D0-E2DCFB760B12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5607405-143C-74BC-C258-BFB4219B770D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140FB6C-390B-C827-4C3A-112730AF34DF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B1F7E2B-EF7D-CAFC-5807-2E509306ED7F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DEEE612-A9F9-7226-E7B3-764BDF8D2D8B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7" name="Freeform 296">
              <a:extLst>
                <a:ext uri="{FF2B5EF4-FFF2-40B4-BE49-F238E27FC236}">
                  <a16:creationId xmlns:a16="http://schemas.microsoft.com/office/drawing/2014/main" id="{8845A5C5-E9DD-0CF5-D0F8-101DE9F0BC30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C65B26A-FA4A-118B-0C64-00FD836A14BD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9617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D7BB4A-5FCC-BE0E-4598-A4CBBA847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6002E9-E0C8-43F6-867E-B59C9AE9217B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00C864"/>
                </a:gs>
                <a:gs pos="100000">
                  <a:srgbClr val="4696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281297F-030D-1875-D767-895C547F8ACD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C755814-90D7-87D0-760B-1037C2C66DC9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7CF2D04-F4E7-C75C-599E-1D5D5DF3DE35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3DB1DA0-1DDC-1436-2F72-6D16FC27B760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443BC70-8B18-0255-C696-BDE869576AA9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7" name="Freeform 296">
              <a:extLst>
                <a:ext uri="{FF2B5EF4-FFF2-40B4-BE49-F238E27FC236}">
                  <a16:creationId xmlns:a16="http://schemas.microsoft.com/office/drawing/2014/main" id="{DBD81CE9-E880-50DC-8B15-080978403847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8F21F36-692B-3B36-498E-07F665A7BF13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313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F5E0C7-6CC4-C4E1-946D-4BAC78CC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AC690EE-1BB8-29C6-B9D8-2BD7B4AE078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32FF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C590C6C-C886-0ED5-4875-00D9DC9E146A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D684923-987A-B6CD-9B8B-4638CBC46837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F2A9C38-3240-82CF-110C-138ED52655D6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B43D358-D816-6F02-FC3F-B3A8161BB335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2CDDE5B-865C-70D4-0D29-D057AF4F5D5E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6" name="Freeform 296">
              <a:extLst>
                <a:ext uri="{FF2B5EF4-FFF2-40B4-BE49-F238E27FC236}">
                  <a16:creationId xmlns:a16="http://schemas.microsoft.com/office/drawing/2014/main" id="{D4123B61-91B7-CF98-9D86-E74D7D010A3B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5711737-7BD5-CDE9-4A9A-D4044CFD0B0C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8171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71B9AAE-F698-5F49-FF7D-DB273B1EE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7E7875-967C-8167-6219-7AD2981B3A46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32FF"/>
                </a:gs>
                <a:gs pos="100000">
                  <a:srgbClr val="E95023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E881CEE-9CC2-952A-DF16-EB72E5BA3737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34B8C6C-2E03-4B88-CD7B-645246CAC822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1550384-6995-D31C-7927-1906F7CC27A1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5665ED6-E012-0025-EE5D-5A750A29C986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19E72B6-399A-53CA-EA42-A13D9F61C59E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6" name="Freeform 296">
              <a:extLst>
                <a:ext uri="{FF2B5EF4-FFF2-40B4-BE49-F238E27FC236}">
                  <a16:creationId xmlns:a16="http://schemas.microsoft.com/office/drawing/2014/main" id="{3D3C9BFA-FB34-FB3B-68AE-1E746009F735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87B1201-EF14-299B-0916-DAFA6B10E170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2657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AFCAD8-0916-AF46-1471-030E4128E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FD7948-9E7C-1CE1-F28B-D2D349BB86F0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C5FD45"/>
                </a:gs>
                <a:gs pos="100000">
                  <a:srgbClr val="80FBFD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6645693-F76A-1D5B-73AD-40985F9623AC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87D3A1B-E1D0-6EF8-C61B-BC8324D9BD7F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660C052-BA1C-EAF6-84A8-52D096C6AE66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26EBD1B-5AF7-4EF6-059C-DED33D0833A5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8B388F5-3571-EDAF-0C4D-B42DD26CD0D0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6" name="Freeform 296">
              <a:extLst>
                <a:ext uri="{FF2B5EF4-FFF2-40B4-BE49-F238E27FC236}">
                  <a16:creationId xmlns:a16="http://schemas.microsoft.com/office/drawing/2014/main" id="{C4D65A09-5CE5-A0B3-E3B1-4FA4650E19DA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238ECD8-977C-F303-7F82-713C506ECD66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448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FCF46C8-AE12-0D45-3190-0888EA5E5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DB4372B3-E211-F19D-CBD9-6CEDF871BD0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CFB888F-6783-4B6F-B43A-B64950462B56}" type="datetime3">
              <a:rPr lang="en-US" smtClean="0"/>
              <a:t>24 February 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3173B02-1E93-D358-4602-350A7447C7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5E3423F-0FF8-8E54-CEB8-1F15261AFD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D3CF5FC1-8EBA-8F68-D0E5-727D21919CE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AE5FDF1F-8E3A-FB66-7C81-266601DA400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91C765C7-1DD0-DFBB-9089-29849D42BA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50B43463-538D-A50A-4299-A6C5A973766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53292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rry image of a colorful light&#10;&#10;AI-generated content may be incorrect.">
            <a:extLst>
              <a:ext uri="{FF2B5EF4-FFF2-40B4-BE49-F238E27FC236}">
                <a16:creationId xmlns:a16="http://schemas.microsoft.com/office/drawing/2014/main" id="{4CD38E12-E2DA-0644-217F-251AE97F7D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F04263E-9F32-7609-1152-7E305FEBE7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82490CA-64AB-4FF2-AD91-5CA8C52C0E20}" type="datetime3">
              <a:rPr lang="en-US" smtClean="0"/>
              <a:t>24 February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7F02905-9FFE-65B7-8565-3E827BBAECD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10BD8AE-BB2B-B523-1D74-4E8DBE2102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6C50EF9C-A411-B76F-4417-55EA0CDCAD2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5CE13AFD-214E-24E8-0633-0508635B5C0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88E5DF2-C2EC-705B-7734-81A5ACCECEC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2EF38C94-0C58-F9C8-0963-86769B7977B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51252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rry image of a rainbow colored light">
            <a:extLst>
              <a:ext uri="{FF2B5EF4-FFF2-40B4-BE49-F238E27FC236}">
                <a16:creationId xmlns:a16="http://schemas.microsoft.com/office/drawing/2014/main" id="{EDCB01F8-DA5A-9DF0-EAD3-CF53CE81A2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4B60AF8-644E-A0B2-7653-4332A03759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97FF50C-1AD4-461E-B4DD-1C088ACCEA9F}" type="datetime3">
              <a:rPr lang="en-US" smtClean="0"/>
              <a:t>24 February 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66D1FDE-8AD4-4D56-5318-1DD8ED2FCAC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80F9161-0A5B-9390-AAC5-925D1AE2AA8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DFFE949A-6E9F-DCCB-3981-444F818B70A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E874CEB-2D3F-A7FC-68BB-B1E5B73F85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BE24A05-3707-8B71-381D-4FC6EE679AF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FEF9B997-BE91-43C4-F809-E78685E578A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55993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image of a colorful light&#10;&#10;AI-generated content may be incorrect.">
            <a:extLst>
              <a:ext uri="{FF2B5EF4-FFF2-40B4-BE49-F238E27FC236}">
                <a16:creationId xmlns:a16="http://schemas.microsoft.com/office/drawing/2014/main" id="{317C3E8F-78DB-106C-ED14-34FB490DAA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A3F83A6-1D48-7A59-F89B-1AD446292A9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B5ACD2-8252-41FC-9E5C-AEC3F4579D8E}" type="datetime3">
              <a:rPr lang="en-US" smtClean="0"/>
              <a:t>24 February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E103D91-874B-B49F-B9D9-85F52EAD81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C95BFB4-BABD-DFFF-43A5-9ABB8A6638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798A70C5-9B3E-7941-E067-8A9791BCF2D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F0F4F06-C9A4-A997-AB67-59B717C137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63C193D-825D-B7A7-F2EF-F53A601001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44996D9C-EDDB-9A0C-B93D-E5808F8C79D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11525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8CDF89-D6BF-3976-5EE2-E8A4C86C3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7D0729-64C3-47D5-8191-1A5E13E79DD2}" type="datetime3">
              <a:rPr lang="en-US" smtClean="0"/>
              <a:t>24 February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A2CBC4E2-6D56-5589-38B7-123BB8BE748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A8D992E6-EAE7-83CF-5B22-7C7DCDB38DC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DDA26C30-C61D-FE6C-E1DC-6A89E2511A9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69AE1E0B-DC05-6DB6-F457-D229556B4C4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67811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305361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21692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kumimoji="0" lang="en-US" sz="16600" b="1" i="0" u="none" strike="noStrike" kern="1200" cap="none" spc="0" normalizeH="0" baseline="0" dirty="0">
                <a:ln>
                  <a:noFill/>
                </a:ln>
                <a:solidFill>
                  <a:srgbClr val="747480">
                    <a:alpha val="50000"/>
                  </a:srgbClr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defRPr>
            </a:lvl1pPr>
          </a:lstStyle>
          <a:p>
            <a:pPr marL="0" marR="0" lvl="0" indent="0" algn="l" defTabSz="10078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44AD132-ED4C-4F2D-A40A-BF96E17D1743}" type="datetime3">
              <a:rPr lang="en-US" smtClean="0"/>
              <a:t>24 February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F2D79ED6-4894-2B8B-D862-974AC88E705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7F6B658B-99C5-075E-8FBB-F68A5010C40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D5FE3CF-44B0-DC6A-D098-1142A9EF999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0B46547D-1401-03DA-C2CC-733F034C79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pic>
        <p:nvPicPr>
          <p:cNvPr id="3" name="Picture 2" descr="A blurry image of a colorful light&#10;&#10;AI-generated content may be incorrect.">
            <a:extLst>
              <a:ext uri="{FF2B5EF4-FFF2-40B4-BE49-F238E27FC236}">
                <a16:creationId xmlns:a16="http://schemas.microsoft.com/office/drawing/2014/main" id="{6E25571E-EF82-B0BD-64DF-C9A5D3449C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6360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image of a colorful light&#10;&#10;AI-generated content may be incorrect.">
            <a:extLst>
              <a:ext uri="{FF2B5EF4-FFF2-40B4-BE49-F238E27FC236}">
                <a16:creationId xmlns:a16="http://schemas.microsoft.com/office/drawing/2014/main" id="{448EADB5-7F9F-E303-6A83-82B81C2C72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30FFC6-DEA1-5FCD-0ABD-350186ADBF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3314701" cy="470898"/>
          </a:xfrm>
        </p:spPr>
        <p:txBody>
          <a:bodyPr/>
          <a:lstStyle/>
          <a:p>
            <a:r>
              <a:rPr lang="en-GB" dirty="0"/>
              <a:t>Contents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8AEA00-448F-1217-B10E-ABF6D402B4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775" y="1411287"/>
            <a:ext cx="5099050" cy="463867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Introduction text goes here and delete the bullet if not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B67F104-BCCD-4057-9F3C-70C29E057A5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AC7752E-6DD5-4E64-89F7-F695A00D1E7D}" type="datetime3">
              <a:rPr lang="en-US" smtClean="0"/>
              <a:t>24 February 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880D4C2-A728-3810-8EAF-6AC78A949BE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CB206C2-DFD0-9033-25AE-68BCB50C193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4A244641-8AF5-E5A2-18FB-105E0DDC42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9647" y="1411287"/>
            <a:ext cx="5610225" cy="4638675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1800"/>
            </a:lvl1pPr>
            <a:lvl2pPr marL="914400" indent="-457200">
              <a:defRPr sz="1600"/>
            </a:lvl2pPr>
            <a:lvl3pPr marL="914400" indent="-457200">
              <a:defRPr sz="1600"/>
            </a:lvl3pPr>
            <a:lvl4pPr marL="914400" indent="-457200">
              <a:defRPr sz="1400"/>
            </a:lvl4pPr>
            <a:lvl5pPr marL="914400" indent="-457200">
              <a:defRPr sz="1400"/>
            </a:lvl5pPr>
          </a:lstStyle>
          <a:p>
            <a:pPr lvl="0"/>
            <a:r>
              <a:rPr lang="en-IN" dirty="0"/>
              <a:t>Section header goes here and to insert page numbers use the tab button on the keyboard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A947DDB-75DB-76B2-ADC5-D93B38D4183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77A9F83-CB8D-4479-6968-8B47D931EEB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6B1C04DF-19FD-1D5D-56C9-211BF50EB23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7297F736-140F-E853-3848-EA573A1B3C5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61227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41CFE3-AEC7-17E3-1C84-D2A40B5E3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B9199D71-1BDD-2925-CD92-9B0B3F8439E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56521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F8391354-FDE4-DE4D-8084-A61467B9F4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2845421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F575A1BC-5BD6-1793-C917-0720FC3DE9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16419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9CBCE1B-3F39-C7B5-CCE2-AE84242E77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flipH="1">
            <a:off x="5205319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14015C2-B8E4-B890-4CD0-F6A3A2052CA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565217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37959C9A-F406-FB92-6FFF-08F42234CF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36214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C6A6256-32C1-F83C-4A32-D674785CF1D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25114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 dirty="0"/>
              <a:t>Agenda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0A2165-CDB3-28AA-F42A-E5E3D72C14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6623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78D4931-12A7-7D80-F380-EDF6BE10CA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5523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8D52684-7A0E-2BDF-C56C-F721FED04E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76317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6D23DAA3-59C7-A352-8728-D157F22D25EF}"/>
              </a:ext>
            </a:extLst>
          </p:cNvPr>
          <p:cNvSpPr>
            <a:spLocks noGrp="1"/>
          </p:cNvSpPr>
          <p:nvPr>
            <p:ph type="dgm" sz="quarter" idx="36" hasCustomPrompt="1"/>
          </p:nvPr>
        </p:nvSpPr>
        <p:spPr>
          <a:xfrm>
            <a:off x="2556050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7" name="SmartArt Placeholder 35">
            <a:extLst>
              <a:ext uri="{FF2B5EF4-FFF2-40B4-BE49-F238E27FC236}">
                <a16:creationId xmlns:a16="http://schemas.microsoft.com/office/drawing/2014/main" id="{D33DFC67-321E-4CFE-436A-CF6FA96BA7E4}"/>
              </a:ext>
            </a:extLst>
          </p:cNvPr>
          <p:cNvSpPr>
            <a:spLocks noGrp="1"/>
          </p:cNvSpPr>
          <p:nvPr>
            <p:ph type="dgm" sz="quarter" idx="37" hasCustomPrompt="1"/>
          </p:nvPr>
        </p:nvSpPr>
        <p:spPr>
          <a:xfrm flipH="1">
            <a:off x="4915948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8" name="SmartArt Placeholder 35">
            <a:extLst>
              <a:ext uri="{FF2B5EF4-FFF2-40B4-BE49-F238E27FC236}">
                <a16:creationId xmlns:a16="http://schemas.microsoft.com/office/drawing/2014/main" id="{A43CB924-4778-AEB3-1D6C-5B802CD043B0}"/>
              </a:ext>
            </a:extLst>
          </p:cNvPr>
          <p:cNvSpPr>
            <a:spLocks noGrp="1"/>
          </p:cNvSpPr>
          <p:nvPr>
            <p:ph type="dgm" sz="quarter" idx="38" hasCustomPrompt="1"/>
          </p:nvPr>
        </p:nvSpPr>
        <p:spPr>
          <a:xfrm>
            <a:off x="7275846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9" name="SmartArt Placeholder 35">
            <a:extLst>
              <a:ext uri="{FF2B5EF4-FFF2-40B4-BE49-F238E27FC236}">
                <a16:creationId xmlns:a16="http://schemas.microsoft.com/office/drawing/2014/main" id="{225723D6-9330-76F1-3F3B-6A582AC1C154}"/>
              </a:ext>
            </a:extLst>
          </p:cNvPr>
          <p:cNvSpPr>
            <a:spLocks noGrp="1"/>
          </p:cNvSpPr>
          <p:nvPr>
            <p:ph type="dgm" sz="quarter" idx="39" hasCustomPrompt="1"/>
          </p:nvPr>
        </p:nvSpPr>
        <p:spPr>
          <a:xfrm>
            <a:off x="9635744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19C0555-55BD-32D2-B375-0C0BC6641F54}"/>
              </a:ext>
            </a:extLst>
          </p:cNvPr>
          <p:cNvSpPr>
            <a:spLocks noGrp="1"/>
          </p:cNvSpPr>
          <p:nvPr>
            <p:ph type="dt" sz="half" idx="40"/>
          </p:nvPr>
        </p:nvSpPr>
        <p:spPr/>
        <p:txBody>
          <a:bodyPr/>
          <a:lstStyle/>
          <a:p>
            <a:fld id="{41DBD4B0-EFC0-4DF1-A23C-A7A8E6C9EFD8}" type="datetime3">
              <a:rPr lang="en-US" smtClean="0"/>
              <a:t>24 February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AA8F600-C044-B2C2-407F-BE157F6651C1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4E7CD09-1595-ACE1-D22D-0DB2944898EF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C73356B1-351A-A1D6-028F-C9736D731FF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EE1F1DF-83E2-9910-8487-D0B14E0DA52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86EFBE9B-F67C-6359-549F-FC22A1C483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AEDED04-6A1F-9E39-1C85-4BA396FAFF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01950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94D2D0-633E-2CCA-0F69-74B83EE39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2006E5E-EB55-C43F-A9B4-8DABEB5C239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9323D1-9A80-4F57-A33C-00CD02E56F39}" type="datetime3">
              <a:rPr lang="en-US" smtClean="0"/>
              <a:t>24 February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45F7D0D-6905-1D3D-D30A-EBA5E1125CB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7363F73-563F-BF23-4175-916ADF6ADD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05920F1D-0D06-535C-A00E-C9CA8D25274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88A16D72-94EE-8CC0-084C-EB87F8781A1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E0BB2990-3047-821E-17D7-0DDDFF6CB30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D3AEE2A3-1722-B883-C7FC-01A81806B2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03306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image of a colorful light&#10;&#10;AI-generated content may be incorrect.">
            <a:extLst>
              <a:ext uri="{FF2B5EF4-FFF2-40B4-BE49-F238E27FC236}">
                <a16:creationId xmlns:a16="http://schemas.microsoft.com/office/drawing/2014/main" id="{867231BA-3379-6E09-3D3D-BA75F8B560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1B29507-2BB1-EC71-EE9B-8A9EE3F01E0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92310A2-1DB4-4690-A6E4-0348D6C95970}" type="datetime3">
              <a:rPr lang="en-US" smtClean="0"/>
              <a:t>24 February 2026</a:t>
            </a:fld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046374F-F6C3-5157-DBE0-F11F0D83F93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71B9A51-27B6-2F80-3AE9-7FB1599561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2C0D9E54-A379-A966-154D-4362D29B3307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19CE3A53-E53C-AAAA-CD1C-C8F1C56FA3B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3FDBF06-36FA-A0E2-B3E6-78DF2439777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584168FE-6E03-EFEE-BF63-87C62DF46A2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96774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and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6086DA-FAB4-D672-5D3E-0B069D2B2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BA46848-8969-3428-7E66-3827EB17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959" y="4980757"/>
            <a:ext cx="3445104" cy="1938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78B5CC24-699C-7858-0807-40619F0D53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4961" y="5184857"/>
            <a:ext cx="3445104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DFFEAF1E-587A-2BBD-24CD-BAC3592390EE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80AE4CF2-41F8-4416-9ECE-68501092381A}" type="datetime3">
              <a:rPr lang="en-US" smtClean="0"/>
              <a:t>24 February 2026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C22E0FE-1715-0380-EFE7-5D520713B07F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820BCA4-5D74-8EE6-4914-C7C86F87E3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E82A0447-0820-5F05-7D32-3BE15F19486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2884" y="358916"/>
            <a:ext cx="2023892" cy="1419083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200" b="0" i="0">
                <a:solidFill>
                  <a:schemeClr val="tx2"/>
                </a:solidFill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“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8A771E8A-8B2A-ED69-3AEC-E5AEDB16F0E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4959" y="1958113"/>
            <a:ext cx="7524979" cy="2721927"/>
          </a:xfrm>
        </p:spPr>
        <p:txBody>
          <a:bodyPr/>
          <a:lstStyle>
            <a:lvl1pPr marL="0" indent="0">
              <a:buNone/>
              <a:defRPr sz="4800" b="0" i="0"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Quote goes here.</a:t>
            </a:r>
          </a:p>
        </p:txBody>
      </p:sp>
      <p:sp>
        <p:nvSpPr>
          <p:cNvPr id="15" name="SmartArt Placeholder 13">
            <a:extLst>
              <a:ext uri="{FF2B5EF4-FFF2-40B4-BE49-F238E27FC236}">
                <a16:creationId xmlns:a16="http://schemas.microsoft.com/office/drawing/2014/main" id="{C17B20F9-AA7C-A405-6236-9619CB287E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dgm" sz="quarter" idx="34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SmartArt Placeholder 14">
            <a:extLst>
              <a:ext uri="{FF2B5EF4-FFF2-40B4-BE49-F238E27FC236}">
                <a16:creationId xmlns:a16="http://schemas.microsoft.com/office/drawing/2014/main" id="{273647F7-B9AC-34AD-37A2-51B8AB0D58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717985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04648CD8-B307-812B-5BD0-91AA365C73D1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sp>
        <p:nvSpPr>
          <p:cNvPr id="4" name="Date Placeholder 8">
            <a:extLst>
              <a:ext uri="{FF2B5EF4-FFF2-40B4-BE49-F238E27FC236}">
                <a16:creationId xmlns:a16="http://schemas.microsoft.com/office/drawing/2014/main" id="{2B2A75B8-AC69-234D-6453-3F51196FB9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fld id="{129CD268-B1C7-4A46-B2D2-316BA9297DDB}" type="datetime3">
              <a:rPr lang="en-US" smtClean="0"/>
              <a:t>24 February 2026</a:t>
            </a:fld>
            <a:endParaRPr lang="en-US" dirty="0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D1F90C88-74CB-BCA1-B76D-286F3EBEE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10">
            <a:extLst>
              <a:ext uri="{FF2B5EF4-FFF2-40B4-BE49-F238E27FC236}">
                <a16:creationId xmlns:a16="http://schemas.microsoft.com/office/drawing/2014/main" id="{85104006-7F28-1301-537B-8A4422337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SmartArt Placeholder 13">
            <a:extLst>
              <a:ext uri="{FF2B5EF4-FFF2-40B4-BE49-F238E27FC236}">
                <a16:creationId xmlns:a16="http://schemas.microsoft.com/office/drawing/2014/main" id="{C1050600-C16E-B87E-A2FD-AE302C51009E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3" name="SmartArt Placeholder 14">
            <a:extLst>
              <a:ext uri="{FF2B5EF4-FFF2-40B4-BE49-F238E27FC236}">
                <a16:creationId xmlns:a16="http://schemas.microsoft.com/office/drawing/2014/main" id="{2358EBAA-AAE1-278D-A8F7-2D66E11CDE43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888436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08663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right light in the dark&#10;&#10;AI-generated content may be incorrect.">
            <a:extLst>
              <a:ext uri="{FF2B5EF4-FFF2-40B4-BE49-F238E27FC236}">
                <a16:creationId xmlns:a16="http://schemas.microsoft.com/office/drawing/2014/main" id="{CC8F593D-AF82-AB7C-CEAB-E4AD19CF2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6587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01600"/>
            <a:ext cx="10972800" cy="59436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  <a:latin typeface="EYInterstate Light" panose="02000506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Table Placeholder 4">
            <a:extLst>
              <a:ext uri="{FF2B5EF4-FFF2-40B4-BE49-F238E27FC236}">
                <a16:creationId xmlns:a16="http://schemas.microsoft.com/office/drawing/2014/main" id="{C5AC4C92-885D-49C5-B704-597DE68FC006}"/>
              </a:ext>
            </a:extLst>
          </p:cNvPr>
          <p:cNvSpPr txBox="1">
            <a:spLocks/>
          </p:cNvSpPr>
          <p:nvPr userDrawn="1"/>
        </p:nvSpPr>
        <p:spPr>
          <a:xfrm>
            <a:off x="813224" y="1137922"/>
            <a:ext cx="6610006" cy="426745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4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2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6438" marR="0" lvl="0" indent="-356438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endParaRPr kumimoji="0" lang="en-IN" sz="1999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5" name="Line 10">
            <a:extLst>
              <a:ext uri="{FF2B5EF4-FFF2-40B4-BE49-F238E27FC236}">
                <a16:creationId xmlns:a16="http://schemas.microsoft.com/office/drawing/2014/main" id="{04A2E968-DBA8-4BD3-8F8F-9B23825BC4D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2" y="907750"/>
            <a:ext cx="1101171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218B73-555A-4F14-931F-DAE40AC2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F89CE-EFF7-4394-B108-2D85BF66007D}" type="datetime3">
              <a:rPr lang="en-US" smtClean="0"/>
              <a:t>24 February 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7FC2ED-0BA0-4018-BDCE-AA7E8B55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49BB1-9F3B-419B-872D-8849B20BD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376" y="6437115"/>
            <a:ext cx="884088" cy="12311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Page </a:t>
            </a:r>
            <a:fld id="{F1BC30E3-FFE5-4B91-AA19-87A149EBB9EE}" type="slidenum">
              <a:rPr smtClean="0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090388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1" y="1411287"/>
            <a:ext cx="11224800" cy="46386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28B2B-ED84-D8B9-C6E0-AF4BC1706BD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E5B408C-772D-4848-9C1B-62A1883586B1}" type="datetime3">
              <a:rPr lang="en-US" smtClean="0"/>
              <a:t>24 February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FBA85-AB9A-E34B-448A-B5BB1CE520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C081B-AFD3-2CFE-BC00-E7A72056889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90281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2DF48-3559-E7A7-D505-A6D3643B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6AB26-9244-40C1-837D-9189EB7D7925}" type="datetime3">
              <a:rPr lang="en-US" smtClean="0"/>
              <a:t>24 February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89C7F-B322-1F93-A5AB-0E322FB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D098-604F-1C6E-4D3F-56B3EFA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1411289"/>
            <a:ext cx="5610479" cy="4638673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9868" y="0"/>
            <a:ext cx="5842132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88C567-2561-2AD2-63FE-0886450DC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5610477" cy="638175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8" name="SmartArt Placeholder 13">
            <a:extLst>
              <a:ext uri="{FF2B5EF4-FFF2-40B4-BE49-F238E27FC236}">
                <a16:creationId xmlns:a16="http://schemas.microsoft.com/office/drawing/2014/main" id="{22E94658-5E5F-713F-D9E0-D9B1BA7B8DE6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9" name="SmartArt Placeholder 14">
            <a:extLst>
              <a:ext uri="{FF2B5EF4-FFF2-40B4-BE49-F238E27FC236}">
                <a16:creationId xmlns:a16="http://schemas.microsoft.com/office/drawing/2014/main" id="{B9319F0D-BF5B-DAC6-565F-071837332CE2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8155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18pt</a:t>
            </a:r>
            <a:endParaRPr lang="en-US" dirty="0"/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ED74E7B3-73BA-6CBF-F361-5C4836CC1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Date Placeholder">
            <a:extLst>
              <a:ext uri="{FF2B5EF4-FFF2-40B4-BE49-F238E27FC236}">
                <a16:creationId xmlns:a16="http://schemas.microsoft.com/office/drawing/2014/main" id="{F72B6F9D-B29D-E927-36D7-47D6721092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90216A6-D7C1-4438-A751-6C2C58F1FDA0}" type="datetime3">
              <a:rPr lang="en-US" smtClean="0"/>
              <a:t>24 February 2026</a:t>
            </a:fld>
            <a:endParaRPr lang="en-US" dirty="0"/>
          </a:p>
        </p:txBody>
      </p:sp>
      <p:sp>
        <p:nvSpPr>
          <p:cNvPr id="15" name="Footer Placeholder">
            <a:extLst>
              <a:ext uri="{FF2B5EF4-FFF2-40B4-BE49-F238E27FC236}">
                <a16:creationId xmlns:a16="http://schemas.microsoft.com/office/drawing/2014/main" id="{F3C10C79-9BC5-0699-5C8C-F8347F4643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1718605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226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9" pos="7378">
          <p15:clr>
            <a:srgbClr val="F26B43"/>
          </p15:clr>
        </p15:guide>
        <p15:guide id="35" pos="302">
          <p15:clr>
            <a:srgbClr val="F26B43"/>
          </p15:clr>
        </p15:guide>
        <p15:guide id="36" orient="horz" pos="210">
          <p15:clr>
            <a:srgbClr val="F26B43"/>
          </p15:clr>
        </p15:guide>
        <p15:guide id="37" orient="horz" pos="527">
          <p15:clr>
            <a:srgbClr val="F26B43"/>
          </p15:clr>
        </p15:guide>
        <p15:guide id="38" orient="horz" pos="890">
          <p15:clr>
            <a:srgbClr val="F26B43"/>
          </p15:clr>
        </p15:guide>
        <p15:guide id="39" orient="horz" pos="38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888143" y="4535546"/>
            <a:ext cx="4907628" cy="511939"/>
          </a:xfrm>
        </p:spPr>
        <p:txBody>
          <a:bodyPr wrap="square"/>
          <a:lstStyle/>
          <a:p>
            <a:r>
              <a:rPr dirty="0"/>
              <a:t>Date: 26</a:t>
            </a:r>
            <a:r>
              <a:rPr baseline="30000" dirty="0"/>
              <a:t>th</a:t>
            </a:r>
            <a:r>
              <a:rPr dirty="0"/>
              <a:t> Feb 2026</a:t>
            </a:r>
          </a:p>
          <a:p>
            <a:r>
              <a:rPr dirty="0"/>
              <a:t>Duration: 2 hours</a:t>
            </a:r>
          </a:p>
          <a:p>
            <a:r>
              <a:rPr dirty="0"/>
              <a:t>Presenter: Vishnu Shankar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Advanced Cypress Features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 wrap="square"/>
          <a:lstStyle/>
          <a:p>
            <a:r>
              <a:rPr dirty="0"/>
              <a:t>1. API Testing Using Cypress</a:t>
            </a:r>
          </a:p>
          <a:p>
            <a:r>
              <a:rPr dirty="0"/>
              <a:t>2. Using </a:t>
            </a:r>
            <a:r>
              <a:rPr dirty="0" err="1"/>
              <a:t>cy.request</a:t>
            </a:r>
            <a:r>
              <a:rPr dirty="0"/>
              <a:t>()</a:t>
            </a:r>
          </a:p>
          <a:p>
            <a:r>
              <a:rPr dirty="0"/>
              <a:t>3. Handling </a:t>
            </a:r>
            <a:r>
              <a:rPr dirty="0" err="1"/>
              <a:t>Iframes</a:t>
            </a:r>
            <a:r>
              <a:rPr dirty="0"/>
              <a:t> in Tests</a:t>
            </a:r>
          </a:p>
          <a:p>
            <a:r>
              <a:rPr dirty="0"/>
              <a:t>4. File Uploads and Downloads</a:t>
            </a:r>
          </a:p>
          <a:p>
            <a:r>
              <a:rPr dirty="0"/>
              <a:t>5. Fixtures &amp; Test Data Management</a:t>
            </a:r>
          </a:p>
          <a:p>
            <a:r>
              <a:rPr dirty="0"/>
              <a:t>6. Mocking Network Requests, Environment Variables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API Testing Using Cypress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r>
              <a:rPr dirty="0"/>
              <a:t>Cypress allows for efficient testing of APIs directly within your test scenarios.</a:t>
            </a:r>
          </a:p>
          <a:p>
            <a:r>
              <a:rPr dirty="0"/>
              <a:t>Native support for HTTP methods provides simple yet powerful ways for validating APIs.</a:t>
            </a:r>
          </a:p>
          <a:p>
            <a:r>
              <a:rPr dirty="0"/>
              <a:t>Assertions can be applied to check response status, headers, and body content seamlessly.</a:t>
            </a:r>
            <a:endParaRPr lang="en-IN" dirty="0"/>
          </a:p>
          <a:p>
            <a:r>
              <a:rPr lang="en-IN" dirty="0"/>
              <a:t>Faster, cleaner, and more reliable than UI-only testing.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 err="1"/>
              <a:t>cy.request</a:t>
            </a:r>
            <a:r>
              <a:rPr dirty="0"/>
              <a:t>() is a method </a:t>
            </a:r>
            <a:r>
              <a:rPr lang="en-IN" dirty="0"/>
              <a:t>Used for sending HTTP API requests directly inside Cypress tests</a:t>
            </a:r>
            <a:r>
              <a:rPr dirty="0"/>
              <a:t>.</a:t>
            </a:r>
          </a:p>
          <a:p>
            <a:r>
              <a:rPr lang="en-IN" dirty="0"/>
              <a:t>Supports GET, POST, PUT, DELETE, and more</a:t>
            </a:r>
            <a:r>
              <a:rPr dirty="0"/>
              <a:t>.</a:t>
            </a:r>
          </a:p>
          <a:p>
            <a:r>
              <a:rPr lang="en-IN" dirty="0"/>
              <a:t>Enables assertions on response status, headers, and body</a:t>
            </a:r>
            <a:r>
              <a:rPr dirty="0"/>
              <a:t>.</a:t>
            </a:r>
          </a:p>
          <a:p>
            <a:r>
              <a:rPr lang="en-IN" dirty="0"/>
              <a:t>Ideal for full API testing or setting up data for UI tests</a:t>
            </a:r>
          </a:p>
        </p:txBody>
      </p:sp>
      <p:pic>
        <p:nvPicPr>
          <p:cNvPr id="3" name="Picture Placeholder 2" descr="img_1.png"/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5" b="15"/>
          <a:stretch>
            <a:fillRect/>
          </a:stretch>
        </p:blipFill>
        <p:spPr/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Using </a:t>
            </a:r>
            <a:r>
              <a:rPr dirty="0" err="1"/>
              <a:t>cy.request</a:t>
            </a:r>
            <a:r>
              <a:rPr dirty="0"/>
              <a:t>()</a:t>
            </a:r>
          </a:p>
        </p:txBody>
      </p:sp>
      <p:sp>
        <p:nvSpPr>
          <p:cNvPr id="5" name="SmartArt Placeholder 4"/>
          <p:cNvSpPr>
            <a:spLocks noGrp="1"/>
          </p:cNvSpPr>
          <p:nvPr>
            <p:ph type="dgm" sz="quarter" idx="2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martArt Placeholder 5"/>
          <p:cNvSpPr>
            <a:spLocks noGrp="1"/>
          </p:cNvSpPr>
          <p:nvPr>
            <p:ph type="dgm" sz="quarter" idx="29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A15318-553F-0056-D517-88174057F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868" y="0"/>
            <a:ext cx="584213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Handling </a:t>
            </a:r>
            <a:r>
              <a:rPr dirty="0" err="1"/>
              <a:t>Iframes</a:t>
            </a:r>
            <a:r>
              <a:rPr dirty="0"/>
              <a:t> in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r>
              <a:rPr dirty="0" err="1"/>
              <a:t>Iframes</a:t>
            </a:r>
            <a:r>
              <a:rPr dirty="0"/>
              <a:t> are tricky due to their embedded nature; Cypress has specific commands for handling them.</a:t>
            </a:r>
          </a:p>
          <a:p>
            <a:r>
              <a:rPr dirty="0"/>
              <a:t>Techniques involve accessing </a:t>
            </a:r>
            <a:r>
              <a:rPr dirty="0" err="1"/>
              <a:t>iframe</a:t>
            </a:r>
            <a:r>
              <a:rPr dirty="0"/>
              <a:t> content and performing interactions within it.</a:t>
            </a:r>
          </a:p>
          <a:p>
            <a:r>
              <a:rPr dirty="0"/>
              <a:t>Ensures tests can simulate user interactions accurately across </a:t>
            </a:r>
            <a:r>
              <a:rPr dirty="0" err="1"/>
              <a:t>iframe</a:t>
            </a:r>
            <a:r>
              <a:rPr dirty="0"/>
              <a:t>-based elements.</a:t>
            </a:r>
            <a:endParaRPr lang="en-IN" dirty="0"/>
          </a:p>
          <a:p>
            <a:r>
              <a:rPr lang="en-IN" dirty="0" err="1"/>
              <a:t>Iframes</a:t>
            </a:r>
            <a:r>
              <a:rPr lang="en-IN" dirty="0"/>
              <a:t> load separate documents, so Cypress cannot access them directly</a:t>
            </a:r>
          </a:p>
          <a:p>
            <a:r>
              <a:rPr lang="en-IN" dirty="0"/>
              <a:t>Requires extracting </a:t>
            </a:r>
            <a:r>
              <a:rPr lang="en-IN" dirty="0" err="1"/>
              <a:t>iframe</a:t>
            </a:r>
            <a:r>
              <a:rPr lang="en-IN" dirty="0"/>
              <a:t> content and wrapping it back into Cypress</a:t>
            </a:r>
          </a:p>
          <a:p>
            <a:r>
              <a:rPr lang="en-IN" dirty="0"/>
              <a:t>Allows typing, clicking, and validating elements inside </a:t>
            </a:r>
            <a:r>
              <a:rPr lang="en-IN" dirty="0" err="1"/>
              <a:t>iframe</a:t>
            </a:r>
            <a:r>
              <a:rPr lang="en-IN" dirty="0"/>
              <a:t> UI</a:t>
            </a:r>
          </a:p>
          <a:p>
            <a:r>
              <a:rPr lang="en-IN" dirty="0"/>
              <a:t>Ensures accurate simulation of real user interactions on embedded components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File Uploads and Downloads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r>
              <a:rPr dirty="0"/>
              <a:t>Cypress supports triggering file uploads and validating downloads in automated tests.</a:t>
            </a:r>
          </a:p>
          <a:p>
            <a:r>
              <a:rPr dirty="0"/>
              <a:t>The file-related setup includes using fixtures or programmatically creating test files.</a:t>
            </a:r>
          </a:p>
          <a:p>
            <a:r>
              <a:rPr dirty="0"/>
              <a:t>Assertions can verify file presence, content type, and download functionality.</a:t>
            </a:r>
            <a:endParaRPr lang="en-IN" dirty="0"/>
          </a:p>
          <a:p>
            <a:r>
              <a:rPr lang="en-IN" dirty="0"/>
              <a:t>Uploads typically use fixtures or generated test files</a:t>
            </a:r>
          </a:p>
          <a:p>
            <a:r>
              <a:rPr lang="en-IN" dirty="0"/>
              <a:t>Downloads can be validated for existence, content type, and file contents</a:t>
            </a:r>
          </a:p>
          <a:p>
            <a:r>
              <a:rPr lang="en-IN" dirty="0"/>
              <a:t>Ideal for testing import/export, reporting, and document-heavy scenarios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Fixtures &amp; Test Data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pPr lvl="0"/>
            <a:r>
              <a:rPr lang="en-IN" dirty="0"/>
              <a:t>Fixtures store reusable test data for consistent, maintainable tests</a:t>
            </a:r>
          </a:p>
          <a:p>
            <a:r>
              <a:rPr dirty="0"/>
              <a:t>Stored as JSON files, fixtures help organize data outside test files conveniently.</a:t>
            </a:r>
          </a:p>
          <a:p>
            <a:r>
              <a:rPr dirty="0"/>
              <a:t>Supports dynamic data injections for complex scenarios or API responses.</a:t>
            </a:r>
            <a:endParaRPr lang="en-IN" dirty="0"/>
          </a:p>
          <a:p>
            <a:r>
              <a:rPr lang="en-IN" dirty="0"/>
              <a:t>Stored as JSON or other static files under cypress/fixtures/</a:t>
            </a:r>
          </a:p>
          <a:p>
            <a:r>
              <a:rPr lang="en-IN" dirty="0"/>
              <a:t>Support dynamic modifications for flexible, complex scenarios</a:t>
            </a:r>
          </a:p>
          <a:p>
            <a:r>
              <a:rPr lang="en-IN" dirty="0"/>
              <a:t>Ideal for both UI and API tests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Mocking Network Requests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r>
              <a:rPr dirty="0"/>
              <a:t>Using </a:t>
            </a:r>
            <a:r>
              <a:rPr dirty="0" err="1"/>
              <a:t>cy.intercept</a:t>
            </a:r>
            <a:r>
              <a:rPr dirty="0"/>
              <a:t>() for mocking HTTP requests in Cypress is common practice.</a:t>
            </a:r>
          </a:p>
          <a:p>
            <a:r>
              <a:rPr dirty="0"/>
              <a:t>Supports stubbing and intercepting network calls for predictable test behavior.</a:t>
            </a:r>
          </a:p>
          <a:p>
            <a:r>
              <a:rPr dirty="0"/>
              <a:t>Provides a way to test error scenarios or specific response/result conditions.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Environment Variables in Cypress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r>
              <a:rPr dirty="0"/>
              <a:t>Environment variables allow you to configure test setups flexibly.</a:t>
            </a:r>
          </a:p>
          <a:p>
            <a:r>
              <a:rPr dirty="0"/>
              <a:t>Sensitive data (e.g., keys) can be managed securely using variables in </a:t>
            </a:r>
            <a:r>
              <a:rPr dirty="0" err="1"/>
              <a:t>cypress.env.json</a:t>
            </a:r>
            <a:r>
              <a:rPr dirty="0"/>
              <a:t>.</a:t>
            </a:r>
          </a:p>
          <a:p>
            <a:r>
              <a:rPr dirty="0"/>
              <a:t>Helps control test behavior without changing the test code directly.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Configuration Management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r>
              <a:rPr dirty="0"/>
              <a:t>Keep configurations centralized for managing multiple test setups effectively.</a:t>
            </a:r>
          </a:p>
          <a:p>
            <a:r>
              <a:rPr dirty="0"/>
              <a:t>Use separate configuration files for environments like staging, production, etc.</a:t>
            </a:r>
          </a:p>
          <a:p>
            <a:r>
              <a:rPr dirty="0"/>
              <a:t>Encourage standardization to maintain consistency across different environments.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Debugging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r>
              <a:rPr lang="en-IN" dirty="0"/>
              <a:t>Use Cypress Test Runner's snapshots and command history for clear traceability</a:t>
            </a:r>
            <a:r>
              <a:rPr dirty="0"/>
              <a:t>.</a:t>
            </a:r>
          </a:p>
          <a:p>
            <a:r>
              <a:rPr lang="en-IN" dirty="0"/>
              <a:t>Apply cy.log(), </a:t>
            </a:r>
            <a:r>
              <a:rPr lang="en-IN" dirty="0" err="1"/>
              <a:t>cy.debug</a:t>
            </a:r>
            <a:r>
              <a:rPr lang="en-IN" dirty="0"/>
              <a:t>(), and </a:t>
            </a:r>
            <a:r>
              <a:rPr lang="en-IN" dirty="0" err="1"/>
              <a:t>cy.pause</a:t>
            </a:r>
            <a:r>
              <a:rPr lang="en-IN" dirty="0"/>
              <a:t>() for interactive debugging</a:t>
            </a:r>
            <a:r>
              <a:rPr dirty="0"/>
              <a:t>.</a:t>
            </a:r>
          </a:p>
          <a:p>
            <a:r>
              <a:rPr lang="en-IN" dirty="0"/>
              <a:t>Inspect DOM states to understand visual/UI issues</a:t>
            </a:r>
            <a:r>
              <a:rPr dirty="0"/>
              <a:t>.</a:t>
            </a:r>
            <a:endParaRPr lang="en-IN" dirty="0"/>
          </a:p>
          <a:p>
            <a:r>
              <a:rPr lang="en-IN" dirty="0"/>
              <a:t>Measure execution time to identify performance bottlenecks</a:t>
            </a:r>
          </a:p>
          <a:p>
            <a:r>
              <a:rPr lang="en-IN" dirty="0"/>
              <a:t>Combine </a:t>
            </a:r>
            <a:r>
              <a:rPr lang="en-IN" dirty="0" err="1"/>
              <a:t>DevTools</a:t>
            </a:r>
            <a:r>
              <a:rPr lang="en-IN" dirty="0"/>
              <a:t> + Cypress runner for complete visibility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Hands-on Session: Create an API + UI test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r>
              <a:rPr dirty="0"/>
              <a:t>Participants will build an integrated test case involving both API and UI elements.</a:t>
            </a:r>
          </a:p>
          <a:p>
            <a:r>
              <a:rPr dirty="0"/>
              <a:t>Practice concepts learned such as </a:t>
            </a:r>
            <a:r>
              <a:rPr dirty="0" err="1"/>
              <a:t>cy.request</a:t>
            </a:r>
            <a:r>
              <a:rPr dirty="0"/>
              <a:t>(), fixtures, and mocks.</a:t>
            </a:r>
          </a:p>
          <a:p>
            <a:r>
              <a:rPr dirty="0"/>
              <a:t>Cyclic interactions will be explored (e.g., API data triggering UI tests).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Common Challenges in Advanced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r>
              <a:rPr lang="en-IN" dirty="0"/>
              <a:t>Flaky tests due to unstable APIs, UI timing, and dynamic states</a:t>
            </a:r>
            <a:r>
              <a:rPr dirty="0"/>
              <a:t>.</a:t>
            </a:r>
          </a:p>
          <a:p>
            <a:r>
              <a:rPr lang="en-IN" dirty="0"/>
              <a:t>Increasing execution time as test suites grow</a:t>
            </a:r>
          </a:p>
          <a:p>
            <a:r>
              <a:rPr lang="en-IN" dirty="0"/>
              <a:t>Debugging async and dynamic UI behaviour becomes harder</a:t>
            </a:r>
          </a:p>
          <a:p>
            <a:r>
              <a:rPr lang="en-IN" dirty="0"/>
              <a:t>Fix using mocks, smart waits, stable data, API‑based setup, and Cypress debugging tools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r>
              <a:t>Understand and manage advanced Cypress features to achieve efficient workflows.</a:t>
            </a:r>
          </a:p>
          <a:p>
            <a:r>
              <a:t>Apply concepts learned in practical and real-world testing scenarios.</a:t>
            </a:r>
          </a:p>
          <a:p>
            <a:r>
              <a:t>Develop confidence in debugging and resolving complex test issues effectively.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Y Core Slides">
  <a:themeElements>
    <a:clrScheme name="Custom 84">
      <a:dk1>
        <a:srgbClr val="1A1A24"/>
      </a:dk1>
      <a:lt1>
        <a:srgbClr val="FFFFFF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FFE600"/>
      </a:hlink>
      <a:folHlink>
        <a:srgbClr val="FFE600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2"/>
          </a:solidFill>
          <a:miter lim="800000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ark-global-widescreen-presentation-template-v2.4.potx" id="{FF47DC87-4AF3-4D5F-88A3-1A611FD73713}" vid="{CB1ACC43-5325-4A4C-8759-2237F5CEFB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3072</TotalTime>
  <Words>726</Words>
  <Application>Microsoft Office PowerPoint</Application>
  <PresentationFormat>Widescreen</PresentationFormat>
  <Paragraphs>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Arial</vt:lpstr>
      <vt:lpstr>Arial Narrow</vt:lpstr>
      <vt:lpstr>EYInterstate</vt:lpstr>
      <vt:lpstr>EYInterstate Light</vt:lpstr>
      <vt:lpstr>Georgia Pro</vt:lpstr>
      <vt:lpstr>Wingdings</vt:lpstr>
      <vt:lpstr>EY Core Slides</vt:lpstr>
      <vt:lpstr>Advanced Cypress Features</vt:lpstr>
      <vt:lpstr>Agenda</vt:lpstr>
      <vt:lpstr>API Testing Using Cypress</vt:lpstr>
      <vt:lpstr>Using cy.request()</vt:lpstr>
      <vt:lpstr>Handling Iframes in Tests</vt:lpstr>
      <vt:lpstr>File Uploads and Downloads</vt:lpstr>
      <vt:lpstr>Fixtures &amp; Test Data Management</vt:lpstr>
      <vt:lpstr>Mocking Network Requests</vt:lpstr>
      <vt:lpstr>Environment Variables in Cypress</vt:lpstr>
      <vt:lpstr>Configuration Management Best Practices</vt:lpstr>
      <vt:lpstr>Debugging Techniques</vt:lpstr>
      <vt:lpstr>Hands-on Session: Create an API + UI test case</vt:lpstr>
      <vt:lpstr>Common Challenges in Advanced Testing</vt:lpstr>
      <vt:lpstr>Key Takeaways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Edgar Medrano</dc:creator>
  <cp:lastModifiedBy>Vishnu Shankar</cp:lastModifiedBy>
  <cp:revision>20</cp:revision>
  <dcterms:created xsi:type="dcterms:W3CDTF">2025-07-15T16:08:23Z</dcterms:created>
  <dcterms:modified xsi:type="dcterms:W3CDTF">2026-02-26T05:41:33Z</dcterms:modified>
</cp:coreProperties>
</file>
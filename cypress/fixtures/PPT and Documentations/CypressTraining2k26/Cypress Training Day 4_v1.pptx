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46F51-5B3E-4C85-8B9C-1CF71E28B7B2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5E0C4-EC33-4DF5-ADA9-FE51E3129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6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118802-2BA0-6229-8164-270EF93A2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BD7E01-359D-1FC6-6787-01223BEFFD8B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A56415E-1E34-8152-DED3-C43A498966C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CA7BC5E-8BB1-73DE-ACB9-E9245A729EEA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FDA0EF-DC27-3F28-F7C7-E071AA613643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5367C23-788B-F635-DBA9-04A381BC174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30498B-4330-C2C1-7651-07131AC75C0A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051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6B12E1A-8E1E-0958-37BB-9E97CE875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B530EF-85AB-6D1A-3ADF-797F0F0B93E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36BB563-B242-3A5E-0102-DCCD6B4FE7DA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5729063-1581-01FF-BF50-B7E2E93BA1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BDE10B-BBAA-8C08-32D4-3C479E2A0DF1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E78C3-FCDE-3583-5FBC-978C8BBADED1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DEFC433D-DFA6-C6DB-868B-0034B35505A8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E107B5-E822-270B-0708-BE46AB76F434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62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17D79C6-6616-1F9D-DA07-C906DABC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D9FFF46-1307-653D-71BE-B22AA785158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0CED5D-4ADD-A1CD-B282-7768F9F24B04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EA0D235-14A3-48C7-2BEC-F7D329BC23C0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CDF276-42FB-D9C8-6510-20A339E1C66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3158159-0447-5776-620B-A34EF8FAF7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16CAEF9E-0989-BBC5-FE04-5C4DE308A681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BA717C-709D-4CF2-69A1-35049F03DA6B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560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D0691C-4906-0013-2470-D6D221C0B62F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5F352-9787-1EFD-ADC8-1CF372BE0EF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DDC5E6-A155-1313-62DA-9E5903EFF95D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1E3719-14F2-A5D9-0100-36829AC1FDF9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B52CC8-DE2D-56AD-2E70-FD2CECE2E93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E30210E-9E75-E8A3-54FE-D2EA96B37426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95540B-D103-E9F2-3395-C26EB3AC5855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27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3A1DDC9-8AFD-ECA2-9E62-E11780594C94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25A177A-D694-36BA-65A8-D12417042F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2B12E9-F251-23C3-C41F-BB00C32B51D7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B751B9-E1E4-05FF-7543-A9390DFC335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141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8C8C68B-A00A-6004-FFCE-7536A75A9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85AB4-8FA1-B410-BB86-A9E9BA120FB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9B81680-EFFE-9C6F-720F-DB5A0582CA63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F8F835-3AA8-3634-662C-738F71627BB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677E25-8FD4-9E65-0EE4-CB04DE1963D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82BC45-CC3A-DA8F-24D6-0CBCB66FB202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1B59F876-F77B-C664-F983-F08AAE711A5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BDBA83-43E0-C58A-A1A1-6E9EE7604E2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025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F3333B-0B32-1559-415A-17213862D8A1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DBD9777-79EC-CED4-D0A6-2C1C06539E15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5BDE6A-B626-BC46-CB20-CED651EFD4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D2D678-894E-1DF7-CFB4-330E0DE848B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A04233-4C8B-C75A-A882-C7B7190F4147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A0DDA836-6507-02D1-0E8D-5EF656D5A3A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5C3F12-D44B-C406-55B9-2AD369363AC1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467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C38446-6E92-CA10-A0D0-E2DCFB760B1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607405-143C-74BC-C258-BFB4219B770D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140FB6C-390B-C827-4C3A-112730AF34DF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1F7E2B-EF7D-CAFC-5807-2E509306ED7F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DEEE612-A9F9-7226-E7B3-764BDF8D2D8B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8845A5C5-E9DD-0CF5-D0F8-101DE9F0BC3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65B26A-FA4A-118B-0C64-00FD836A14BD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961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81297F-030D-1875-D767-895C547F8ACD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755814-90D7-87D0-760B-1037C2C66DC9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CF2D04-F4E7-C75C-599E-1D5D5DF3DE35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DB1DA0-1DDC-1436-2F72-6D16FC27B760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443BC70-8B18-0255-C696-BDE869576AA9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DBD81CE9-E880-50DC-8B15-080978403847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F21F36-692B-3B36-498E-07F665A7BF13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13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590C6C-C886-0ED5-4875-00D9DC9E146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D684923-987A-B6CD-9B8B-4638CBC468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2A9C38-3240-82CF-110C-138ED52655D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43D358-D816-6F02-FC3F-B3A8161BB33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2CDDE5B-865C-70D4-0D29-D057AF4F5D5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D4123B61-91B7-CF98-9D86-E74D7D010A3B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711737-7BD5-CDE9-4A9A-D4044CFD0B0C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81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881CEE-9CC2-952A-DF16-EB72E5BA373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34B8C6C-2E03-4B88-CD7B-645246CAC822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550384-6995-D31C-7927-1906F7CC27A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665ED6-E012-0025-EE5D-5A750A29C986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9E72B6-399A-53CA-EA42-A13D9F61C5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3D3C9BFA-FB34-FB3B-68AE-1E746009F73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7B1201-EF14-299B-0916-DAFA6B10E17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2657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645693-F76A-1D5B-73AD-40985F9623AC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87D3A1B-E1D0-6EF8-C61B-BC8324D9BD7F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60C052-BA1C-EAF6-84A8-52D096C6AE6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6EBD1B-5AF7-4EF6-059C-DED33D0833A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8B388F5-3571-EDAF-0C4D-B42DD26CD0D0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4D65A09-5CE5-A0B3-E3B1-4FA4650E19DA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8ECD8-977C-F303-7F82-713C506ECD66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44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CF46C8-AE12-0D45-3190-0888EA5E5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CFB888F-6783-4B6F-B43A-B64950462B56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5329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CD38E12-E2DA-0644-217F-251AE97F7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2490CA-64AB-4FF2-AD91-5CA8C52C0E20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125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rainbow colored light">
            <a:extLst>
              <a:ext uri="{FF2B5EF4-FFF2-40B4-BE49-F238E27FC236}">
                <a16:creationId xmlns:a16="http://schemas.microsoft.com/office/drawing/2014/main" id="{EDCB01F8-DA5A-9DF0-EAD3-CF53CE81A2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7FF50C-1AD4-461E-B4DD-1C088ACCEA9F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559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317C3E8F-78DB-106C-ED14-34FB490DA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B5ACD2-8252-41FC-9E5C-AEC3F4579D8E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1152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8CDF89-D6BF-3976-5EE2-E8A4C86C3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7D0729-64C3-47D5-8191-1A5E13E79DD2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6781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44AD132-ED4C-4F2D-A40A-BF96E17D1743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6E25571E-EF82-B0BD-64DF-C9A5D3449C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36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48EADB5-7F9F-E303-6A83-82B81C2C72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AC7752E-6DD5-4E64-89F7-F695A00D1E7D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122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1CFE3-AEC7-17E3-1C84-D2A40B5E3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41DBD4B0-EFC0-4DF1-A23C-A7A8E6C9EFD8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0195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94D2D0-633E-2CCA-0F69-74B83EE39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9323D1-9A80-4F57-A33C-00CD02E56F39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330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867231BA-3379-6E09-3D3D-BA75F8B56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2310A2-1DB4-4690-A6E4-0348D6C95970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9677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80AE4CF2-41F8-4416-9ECE-68501092381A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17985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129CD268-B1C7-4A46-B2D2-316BA9297DDB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88436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8663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right light in the dark&#10;&#10;AI-generated content may be incorrect.">
            <a:extLst>
              <a:ext uri="{FF2B5EF4-FFF2-40B4-BE49-F238E27FC236}">
                <a16:creationId xmlns:a16="http://schemas.microsoft.com/office/drawing/2014/main" id="{CC8F593D-AF82-AB7C-CEAB-E4AD19CF2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587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89CE-EFF7-4394-B108-2D85BF66007D}" type="datetime3">
              <a:rPr lang="en-US" smtClean="0"/>
              <a:t>27 February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376" y="6437115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90388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B408C-772D-4848-9C1B-62A1883586B1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028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AB26-9244-40C1-837D-9189EB7D7925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9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8" name="SmartArt Placeholder 13">
            <a:extLst>
              <a:ext uri="{FF2B5EF4-FFF2-40B4-BE49-F238E27FC236}">
                <a16:creationId xmlns:a16="http://schemas.microsoft.com/office/drawing/2014/main" id="{22E94658-5E5F-713F-D9E0-D9B1BA7B8DE6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9" name="SmartArt Placeholder 14">
            <a:extLst>
              <a:ext uri="{FF2B5EF4-FFF2-40B4-BE49-F238E27FC236}">
                <a16:creationId xmlns:a16="http://schemas.microsoft.com/office/drawing/2014/main" id="{B9319F0D-BF5B-DAC6-565F-071837332CE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15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90216A6-D7C1-4438-A751-6C2C58F1FDA0}" type="datetime3">
              <a:rPr lang="en-US" smtClean="0"/>
              <a:t>27 February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171860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dirty="0"/>
              <a:t>Date: 27</a:t>
            </a:r>
            <a:r>
              <a:rPr baseline="30000" dirty="0"/>
              <a:t>th</a:t>
            </a:r>
            <a:r>
              <a:rPr dirty="0"/>
              <a:t> Feb 2026 , Cypress Training Program
Duration: 2 Hours
Presenter: Vishnu Shankar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89762" y="2698751"/>
            <a:ext cx="5391295" cy="1654043"/>
          </a:xfrm>
        </p:spPr>
        <p:txBody>
          <a:bodyPr wrap="square"/>
          <a:lstStyle/>
          <a:p>
            <a:r>
              <a:rPr lang="en-IN" dirty="0"/>
              <a:t>Day 4: </a:t>
            </a:r>
            <a:r>
              <a:rPr dirty="0"/>
              <a:t>CI/CD Integration &amp; Reporting in Cypress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Training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Overview of Session Topics</a:t>
            </a:r>
          </a:p>
          <a:p>
            <a:r>
              <a:rPr dirty="0"/>
              <a:t>Setting Up Cypress in CI/CD</a:t>
            </a:r>
          </a:p>
          <a:p>
            <a:r>
              <a:rPr dirty="0"/>
              <a:t>CI/CD Tools Overview</a:t>
            </a:r>
          </a:p>
          <a:p>
            <a:r>
              <a:rPr dirty="0"/>
              <a:t>Running Headless Tests</a:t>
            </a:r>
          </a:p>
          <a:p>
            <a:r>
              <a:rPr dirty="0"/>
              <a:t>Benefits of Headless Testing</a:t>
            </a:r>
          </a:p>
          <a:p>
            <a:r>
              <a:rPr dirty="0"/>
              <a:t>Parallel Test Execution</a:t>
            </a:r>
          </a:p>
          <a:p>
            <a:r>
              <a:rPr dirty="0"/>
              <a:t>Using the Cypress Dashboard</a:t>
            </a:r>
          </a:p>
          <a:p>
            <a:r>
              <a:rPr dirty="0"/>
              <a:t>Advanced Reporting Tools</a:t>
            </a:r>
          </a:p>
          <a:p>
            <a:r>
              <a:rPr dirty="0"/>
              <a:t>Generating Reports in CI/CD</a:t>
            </a:r>
          </a:p>
          <a:p>
            <a:r>
              <a:rPr dirty="0"/>
              <a:t>Hands-on CI/CD Pipeline Testing</a:t>
            </a:r>
          </a:p>
          <a:p>
            <a:r>
              <a:rPr dirty="0"/>
              <a:t>Best Practices for CI/CD Integration</a:t>
            </a:r>
          </a:p>
          <a:p>
            <a:r>
              <a:rPr dirty="0"/>
              <a:t>Summary of Key Takeaways</a:t>
            </a:r>
          </a:p>
          <a:p>
            <a:r>
              <a:rPr dirty="0"/>
              <a:t>Open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Setting Up Cypress in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Integration steps with common CI/CD tools.</a:t>
            </a:r>
          </a:p>
          <a:p>
            <a:r>
              <a:rPr dirty="0"/>
              <a:t>Key configurations for Cypress setup.</a:t>
            </a:r>
          </a:p>
          <a:p>
            <a:r>
              <a:rPr dirty="0"/>
              <a:t>How to use environment variables.</a:t>
            </a:r>
          </a:p>
          <a:p>
            <a:r>
              <a:rPr dirty="0"/>
              <a:t>Troubleshooting setup issues.</a:t>
            </a:r>
          </a:p>
          <a:p>
            <a:r>
              <a:rPr dirty="0"/>
              <a:t>Hands-on example with </a:t>
            </a:r>
            <a:r>
              <a:rPr dirty="0" err="1"/>
              <a:t>CircleCI</a:t>
            </a:r>
            <a:r>
              <a:rPr dirty="0"/>
              <a:t> or Jenkins.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Overview of CI/CD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Introduction to popular CI/CD tools.</a:t>
            </a:r>
          </a:p>
          <a:p>
            <a:r>
              <a:rPr dirty="0"/>
              <a:t>GitHub Actions: Easy setup.</a:t>
            </a:r>
          </a:p>
          <a:p>
            <a:r>
              <a:rPr dirty="0"/>
              <a:t>Jenkins: Extensive customization.</a:t>
            </a:r>
          </a:p>
          <a:p>
            <a:r>
              <a:rPr dirty="0" err="1"/>
              <a:t>CircleCI</a:t>
            </a:r>
            <a:r>
              <a:rPr dirty="0"/>
              <a:t>: Streamlined workflows.</a:t>
            </a:r>
          </a:p>
          <a:p>
            <a:r>
              <a:rPr dirty="0"/>
              <a:t>Comparison of tools for Cypress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Running Headless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Benefits of headless testing: Speed and efficiency.</a:t>
            </a:r>
          </a:p>
          <a:p>
            <a:r>
              <a:rPr dirty="0"/>
              <a:t>Configuring headless mode in Cypress.</a:t>
            </a:r>
          </a:p>
          <a:p>
            <a:r>
              <a:rPr dirty="0"/>
              <a:t>Running tests without UI dependency.</a:t>
            </a:r>
          </a:p>
          <a:p>
            <a:r>
              <a:rPr dirty="0"/>
              <a:t>Practical examples of headless execution.</a:t>
            </a:r>
          </a:p>
          <a:p>
            <a:r>
              <a:rPr dirty="0"/>
              <a:t>Challenges and solutions for reliable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Benefits of Headless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lang="en-IN" b="1" dirty="0"/>
              <a:t>Faster execution</a:t>
            </a:r>
            <a:r>
              <a:rPr lang="en-IN" dirty="0"/>
              <a:t> — no UI → reduced overhead</a:t>
            </a:r>
          </a:p>
          <a:p>
            <a:r>
              <a:rPr lang="en-IN" b="1" dirty="0"/>
              <a:t>Lower resource usage</a:t>
            </a:r>
            <a:r>
              <a:rPr lang="en-IN" dirty="0"/>
              <a:t> — efficient CPU/RAM consumption</a:t>
            </a:r>
          </a:p>
          <a:p>
            <a:r>
              <a:rPr lang="en-IN" b="1" dirty="0"/>
              <a:t>CI/CD friendly</a:t>
            </a:r>
            <a:r>
              <a:rPr lang="en-IN" dirty="0"/>
              <a:t> — optimized for servers without GUIs</a:t>
            </a:r>
          </a:p>
          <a:p>
            <a:r>
              <a:rPr lang="en-IN" b="1" dirty="0"/>
              <a:t>Supports parallelization</a:t>
            </a:r>
            <a:r>
              <a:rPr lang="en-IN" dirty="0"/>
              <a:t> — significantly reduces test times</a:t>
            </a:r>
          </a:p>
          <a:p>
            <a:r>
              <a:rPr lang="en-IN" b="1" dirty="0"/>
              <a:t>Stable &amp; consistent</a:t>
            </a:r>
            <a:r>
              <a:rPr lang="en-IN" dirty="0"/>
              <a:t> — avoids UI timing issues</a:t>
            </a:r>
          </a:p>
          <a:p>
            <a:r>
              <a:rPr lang="en-IN" b="1" dirty="0"/>
              <a:t>Great for Docker &amp; cloud</a:t>
            </a:r>
            <a:r>
              <a:rPr lang="en-IN" dirty="0"/>
              <a:t> — no display server needed</a:t>
            </a:r>
          </a:p>
          <a:p>
            <a:r>
              <a:rPr lang="en-IN" b="1" dirty="0"/>
              <a:t>Videos &amp; screenshots auto‑generated</a:t>
            </a:r>
          </a:p>
          <a:p>
            <a:r>
              <a:rPr lang="en-IN" b="1" dirty="0"/>
              <a:t>Fast feedback loops</a:t>
            </a:r>
            <a:r>
              <a:rPr lang="en-IN" dirty="0"/>
              <a:t> for developers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Parallel Test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lang="en-IN" dirty="0"/>
              <a:t>Runs multiple test files </a:t>
            </a:r>
            <a:r>
              <a:rPr lang="en-IN" b="1" dirty="0"/>
              <a:t>at the same time</a:t>
            </a:r>
            <a:r>
              <a:rPr lang="en-IN" dirty="0"/>
              <a:t> → saves significant time</a:t>
            </a:r>
          </a:p>
          <a:p>
            <a:r>
              <a:rPr lang="en-IN" dirty="0"/>
              <a:t>Requires Cypress Dashboard (--record --key)</a:t>
            </a:r>
          </a:p>
          <a:p>
            <a:r>
              <a:rPr lang="en-IN" dirty="0"/>
              <a:t>Auto‑balances workload across CI agents</a:t>
            </a:r>
          </a:p>
          <a:p>
            <a:r>
              <a:rPr lang="en-IN" dirty="0"/>
              <a:t>Improves speed, scalability, and resource efficiency</a:t>
            </a:r>
          </a:p>
          <a:p>
            <a:r>
              <a:rPr lang="en-IN" dirty="0"/>
              <a:t>Works perfectly in GitHub Actions, Jenkins, </a:t>
            </a:r>
            <a:r>
              <a:rPr lang="en-IN" dirty="0" err="1"/>
              <a:t>CircleCI</a:t>
            </a:r>
            <a:r>
              <a:rPr lang="en-IN" dirty="0"/>
              <a:t>, GitLab, Azure DevOps</a:t>
            </a:r>
          </a:p>
          <a:p>
            <a:r>
              <a:rPr lang="en-IN" dirty="0"/>
              <a:t>Best practice for large test suites and enterprise automation</a:t>
            </a:r>
          </a:p>
          <a:p>
            <a:endParaRPr lang="en-IN" dirty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Using Cypress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 lvl="0"/>
            <a:r>
              <a:rPr lang="en-IN" dirty="0"/>
              <a:t>Cloud platform for </a:t>
            </a:r>
            <a:r>
              <a:rPr lang="en-IN" dirty="0" err="1"/>
              <a:t>analyzing</a:t>
            </a:r>
            <a:r>
              <a:rPr lang="en-IN" dirty="0"/>
              <a:t> Cypress test runs</a:t>
            </a:r>
          </a:p>
          <a:p>
            <a:r>
              <a:rPr lang="en-IN" dirty="0"/>
              <a:t>Stores videos, screenshots, logs, failures</a:t>
            </a:r>
          </a:p>
          <a:p>
            <a:r>
              <a:rPr lang="en-IN" dirty="0"/>
              <a:t>Enables parallel execution &amp; automatic load balancing</a:t>
            </a:r>
          </a:p>
          <a:p>
            <a:r>
              <a:rPr lang="en-IN" dirty="0"/>
              <a:t>Provides flake detection and performance analytics</a:t>
            </a:r>
          </a:p>
          <a:p>
            <a:r>
              <a:rPr lang="en-IN" dirty="0"/>
              <a:t>Works seamlessly with all CI/CD tools</a:t>
            </a:r>
          </a:p>
          <a:p>
            <a:r>
              <a:rPr lang="en-IN" dirty="0"/>
              <a:t>Helps teams debug faster and maintain higher test reliability</a:t>
            </a:r>
          </a:p>
          <a:p>
            <a:pPr marL="0" lv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Reporting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 lvl="0"/>
            <a:r>
              <a:rPr lang="en-IN" dirty="0"/>
              <a:t>Cypress provides </a:t>
            </a:r>
            <a:r>
              <a:rPr lang="en-IN" b="1" dirty="0"/>
              <a:t>built-in videos &amp; screenshots</a:t>
            </a:r>
          </a:p>
          <a:p>
            <a:r>
              <a:rPr lang="en-IN" b="1" dirty="0" err="1"/>
              <a:t>Mochawesome</a:t>
            </a:r>
            <a:r>
              <a:rPr lang="en-IN" dirty="0"/>
              <a:t> → most popular HTML reporter</a:t>
            </a:r>
          </a:p>
          <a:p>
            <a:r>
              <a:rPr lang="en-IN" b="1" dirty="0"/>
              <a:t>Allure</a:t>
            </a:r>
            <a:r>
              <a:rPr lang="en-IN" dirty="0"/>
              <a:t> → advanced, enterprise reporting</a:t>
            </a:r>
          </a:p>
          <a:p>
            <a:r>
              <a:rPr lang="en-IN" b="1" dirty="0"/>
              <a:t>JUnit/XML</a:t>
            </a:r>
            <a:r>
              <a:rPr lang="en-IN" dirty="0"/>
              <a:t> → ideal for CI/CD parsing</a:t>
            </a:r>
          </a:p>
          <a:p>
            <a:r>
              <a:rPr lang="en-IN" b="1" dirty="0"/>
              <a:t>Cypress Dashboard</a:t>
            </a:r>
            <a:r>
              <a:rPr lang="en-IN" dirty="0"/>
              <a:t> → cloud analytics + parallel execution insights</a:t>
            </a:r>
          </a:p>
          <a:p>
            <a:r>
              <a:rPr lang="en-IN" dirty="0"/>
              <a:t>CI/CD systems can publish </a:t>
            </a:r>
            <a:r>
              <a:rPr lang="en-IN" b="1" dirty="0"/>
              <a:t>HTML reports, videos, screenshots</a:t>
            </a:r>
            <a:r>
              <a:rPr lang="en-IN" dirty="0"/>
              <a:t> as artifacts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Generating Reports in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 lvl="0"/>
            <a:r>
              <a:rPr lang="en-IN" dirty="0"/>
              <a:t>HTML Reports → </a:t>
            </a:r>
            <a:r>
              <a:rPr lang="en-IN" dirty="0" err="1"/>
              <a:t>Mochawesome</a:t>
            </a:r>
            <a:r>
              <a:rPr lang="en-IN" dirty="0"/>
              <a:t>, Allure</a:t>
            </a:r>
          </a:p>
          <a:p>
            <a:r>
              <a:rPr lang="en-IN" dirty="0"/>
              <a:t>XML Reports → JUnit (for CI dashboards)</a:t>
            </a:r>
          </a:p>
          <a:p>
            <a:r>
              <a:rPr lang="en-IN" dirty="0"/>
              <a:t>Cypress Dashboard → Cloud analytics + parallel support</a:t>
            </a:r>
          </a:p>
          <a:p>
            <a:r>
              <a:rPr lang="en-IN" dirty="0"/>
              <a:t>Store videos &amp; screenshots as CI artifacts</a:t>
            </a:r>
          </a:p>
          <a:p>
            <a:r>
              <a:rPr lang="en-IN" dirty="0"/>
              <a:t>Merge &amp; publish reports automatically in pipeline</a:t>
            </a:r>
          </a:p>
          <a:p>
            <a:r>
              <a:rPr lang="en-IN" dirty="0"/>
              <a:t>Essential for debugging failures and sharing results</a:t>
            </a:r>
          </a:p>
          <a:p>
            <a:pPr lvl="0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Hands-on CI/CD Pipeline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lang="en-IN" dirty="0"/>
              <a:t>Build a fully working open-source CI/CD pipeline</a:t>
            </a:r>
          </a:p>
          <a:p>
            <a:r>
              <a:rPr lang="en-IN" dirty="0"/>
              <a:t>Run Cypress tests in </a:t>
            </a:r>
            <a:r>
              <a:rPr lang="en-IN" b="1" dirty="0"/>
              <a:t>headless mode</a:t>
            </a:r>
            <a:endParaRPr lang="en-IN" dirty="0"/>
          </a:p>
          <a:p>
            <a:r>
              <a:rPr lang="en-IN" dirty="0"/>
              <a:t>Generate </a:t>
            </a:r>
            <a:r>
              <a:rPr lang="en-IN" b="1" dirty="0"/>
              <a:t>JUnit + </a:t>
            </a:r>
            <a:r>
              <a:rPr lang="en-IN" b="1" dirty="0" err="1"/>
              <a:t>Mochawesome</a:t>
            </a:r>
            <a:r>
              <a:rPr lang="en-IN" b="1" dirty="0"/>
              <a:t> reports</a:t>
            </a:r>
            <a:endParaRPr lang="en-IN" dirty="0"/>
          </a:p>
          <a:p>
            <a:r>
              <a:rPr lang="en-IN" dirty="0"/>
              <a:t>Publish </a:t>
            </a:r>
            <a:r>
              <a:rPr lang="en-IN" b="1" dirty="0"/>
              <a:t>videos, screenshots, HTML</a:t>
            </a:r>
            <a:r>
              <a:rPr lang="en-IN" dirty="0"/>
              <a:t> to Jenkins</a:t>
            </a:r>
          </a:p>
          <a:p>
            <a:r>
              <a:rPr lang="en-IN" dirty="0"/>
              <a:t>Debug failures directly from Jenkins UI</a:t>
            </a:r>
          </a:p>
          <a:p>
            <a:r>
              <a:rPr lang="en-IN" dirty="0"/>
              <a:t>Use environment variables securely</a:t>
            </a:r>
          </a:p>
          <a:p>
            <a:r>
              <a:rPr lang="en-IN" dirty="0"/>
              <a:t>Optional: parallel execution with Jenkins stages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Best Practices for CI/CD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 lvl="0"/>
            <a:r>
              <a:rPr lang="en-IN" dirty="0"/>
              <a:t>Run Cypress in </a:t>
            </a:r>
            <a:r>
              <a:rPr lang="en-IN" b="1" dirty="0"/>
              <a:t>headless mode</a:t>
            </a:r>
          </a:p>
          <a:p>
            <a:r>
              <a:rPr lang="en-IN" dirty="0"/>
              <a:t>Cache dependencies for faster pipelines</a:t>
            </a:r>
          </a:p>
          <a:p>
            <a:r>
              <a:rPr lang="en-IN" dirty="0"/>
              <a:t>Separate smoke, regression, and critical tests</a:t>
            </a:r>
          </a:p>
          <a:p>
            <a:r>
              <a:rPr lang="en-IN" dirty="0"/>
              <a:t>Use </a:t>
            </a:r>
            <a:r>
              <a:rPr lang="en-IN" b="1" dirty="0"/>
              <a:t>environment variables</a:t>
            </a:r>
            <a:r>
              <a:rPr lang="en-IN" dirty="0"/>
              <a:t> for secure configuration</a:t>
            </a:r>
          </a:p>
          <a:p>
            <a:r>
              <a:rPr lang="en-IN" dirty="0"/>
              <a:t>Enable retries to reduce flakiness</a:t>
            </a:r>
          </a:p>
          <a:p>
            <a:r>
              <a:rPr lang="en-IN" dirty="0"/>
              <a:t>Publish </a:t>
            </a:r>
            <a:r>
              <a:rPr lang="en-IN" b="1" dirty="0"/>
              <a:t>JUnit + HTML reports</a:t>
            </a:r>
            <a:r>
              <a:rPr lang="en-IN" dirty="0"/>
              <a:t>, screenshots, and videos</a:t>
            </a:r>
          </a:p>
          <a:p>
            <a:r>
              <a:rPr lang="en-IN" dirty="0"/>
              <a:t>Run tests </a:t>
            </a:r>
            <a:r>
              <a:rPr lang="en-IN" b="1" dirty="0"/>
              <a:t>in parallel</a:t>
            </a:r>
            <a:r>
              <a:rPr lang="en-IN" dirty="0"/>
              <a:t> to speed up builds</a:t>
            </a:r>
          </a:p>
          <a:p>
            <a:r>
              <a:rPr lang="en-IN" dirty="0"/>
              <a:t>Keep tests </a:t>
            </a:r>
            <a:r>
              <a:rPr lang="en-IN" b="1" dirty="0"/>
              <a:t>independent and idempotent</a:t>
            </a:r>
            <a:endParaRPr lang="en-IN" dirty="0"/>
          </a:p>
          <a:p>
            <a:r>
              <a:rPr lang="en-IN" dirty="0"/>
              <a:t>Fail fast &amp; clean workspace before each run</a:t>
            </a:r>
          </a:p>
          <a:p>
            <a:r>
              <a:rPr lang="en-IN" dirty="0"/>
              <a:t>Maintain consistent browser versions across CI agents</a:t>
            </a:r>
          </a:p>
          <a:p>
            <a:r>
              <a:rPr lang="en-IN" dirty="0"/>
              <a:t>Use tags &amp; groups to organize pipelines</a:t>
            </a:r>
          </a:p>
          <a:p>
            <a:pPr lvl="0"/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Summary of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 lvl="0"/>
            <a:r>
              <a:rPr lang="en-IN" dirty="0"/>
              <a:t>Cypress integrates smoothly with open-source CI/CD tools like </a:t>
            </a:r>
            <a:r>
              <a:rPr lang="en-IN" b="1" dirty="0"/>
              <a:t>Jenkins</a:t>
            </a:r>
          </a:p>
          <a:p>
            <a:r>
              <a:rPr lang="en-IN" b="1" dirty="0"/>
              <a:t>Headless mode</a:t>
            </a:r>
            <a:r>
              <a:rPr lang="en-IN" dirty="0"/>
              <a:t> → faster, stable, CI‑optimized execution</a:t>
            </a:r>
          </a:p>
          <a:p>
            <a:r>
              <a:rPr lang="en-IN" b="1" dirty="0"/>
              <a:t>Parallel testing</a:t>
            </a:r>
            <a:r>
              <a:rPr lang="en-IN" dirty="0"/>
              <a:t> boosts speed for large automation suites</a:t>
            </a:r>
          </a:p>
          <a:p>
            <a:r>
              <a:rPr lang="en-IN" b="1" dirty="0"/>
              <a:t>Reports + artifacts</a:t>
            </a:r>
            <a:r>
              <a:rPr lang="en-IN" dirty="0"/>
              <a:t> (HTML, XML, videos, screenshots) are essential</a:t>
            </a:r>
          </a:p>
          <a:p>
            <a:r>
              <a:rPr lang="en-IN" b="1" dirty="0"/>
              <a:t>Environment variables</a:t>
            </a:r>
            <a:r>
              <a:rPr lang="en-IN" dirty="0"/>
              <a:t> keep configuration secure and dynamic</a:t>
            </a:r>
          </a:p>
          <a:p>
            <a:r>
              <a:rPr lang="en-IN" b="1" dirty="0"/>
              <a:t>Best practices</a:t>
            </a:r>
            <a:r>
              <a:rPr lang="en-IN" dirty="0"/>
              <a:t> ensure reliable, maintainable, scalable automation</a:t>
            </a:r>
          </a:p>
          <a:p>
            <a:r>
              <a:rPr lang="en-IN" dirty="0"/>
              <a:t>Hands-on pipeline demonstrated </a:t>
            </a:r>
            <a:r>
              <a:rPr lang="en-IN" b="1" dirty="0"/>
              <a:t>real‑world Cypress CI workflows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Open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rPr dirty="0"/>
              <a:t>Open Q&amp;A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r>
              <a:t>Looking forward to seeing you on the next session!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FF47DC87-4AF3-4D5F-88A3-1A611FD73713}" vid="{CB1ACC43-5325-4A4C-8759-2237F5CEFB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</TotalTime>
  <Words>710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Arial Narrow</vt:lpstr>
      <vt:lpstr>EYInterstate</vt:lpstr>
      <vt:lpstr>EYInterstate Light</vt:lpstr>
      <vt:lpstr>Georgia Pro</vt:lpstr>
      <vt:lpstr>Wingdings</vt:lpstr>
      <vt:lpstr>EY Core Slides</vt:lpstr>
      <vt:lpstr>Day 4: CI/CD Integration &amp; Reporting in Cypress</vt:lpstr>
      <vt:lpstr>Training Agenda</vt:lpstr>
      <vt:lpstr>Setting Up Cypress in CI/CD</vt:lpstr>
      <vt:lpstr>Overview of CI/CD Tools</vt:lpstr>
      <vt:lpstr>Running Headless Tests</vt:lpstr>
      <vt:lpstr>Benefits of Headless Testing</vt:lpstr>
      <vt:lpstr>Parallel Test Execution</vt:lpstr>
      <vt:lpstr>Using Cypress Dashboard</vt:lpstr>
      <vt:lpstr>Reporting Options</vt:lpstr>
      <vt:lpstr>Generating Reports in CI/CD</vt:lpstr>
      <vt:lpstr>Hands-on CI/CD Pipeline Testing</vt:lpstr>
      <vt:lpstr>Best Practices for CI/CD Integration</vt:lpstr>
      <vt:lpstr>Summary of Key Takeaways</vt:lpstr>
      <vt:lpstr>Open Q&amp;A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Medrano</dc:creator>
  <cp:lastModifiedBy>Vishnu Shankar</cp:lastModifiedBy>
  <cp:revision>19</cp:revision>
  <dcterms:created xsi:type="dcterms:W3CDTF">2025-07-15T16:08:23Z</dcterms:created>
  <dcterms:modified xsi:type="dcterms:W3CDTF">2026-02-27T12:14:57Z</dcterms:modified>
</cp:coreProperties>
</file>
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46F51-5B3E-4C85-8B9C-1CF71E28B7B2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5E0C4-EC33-4DF5-ADA9-FE51E3129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6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118802-2BA0-6229-8164-270EF93A2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BD7E01-359D-1FC6-6787-01223BEFFD8B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A56415E-1E34-8152-DED3-C43A498966C6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CA7BC5E-8BB1-73DE-ACB9-E9245A729EEA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FDA0EF-DC27-3F28-F7C7-E071AA613643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5367C23-788B-F635-DBA9-04A381BC174A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730498B-4330-C2C1-7651-07131AC75C0A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051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6B12E1A-8E1E-0958-37BB-9E97CE875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8B530EF-85AB-6D1A-3ADF-797F0F0B93E2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36BB563-B242-3A5E-0102-DCCD6B4FE7DA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5729063-1581-01FF-BF50-B7E2E93BA18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BDE10B-BBAA-8C08-32D4-3C479E2A0DF1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F2E78C3-FCDE-3583-5FBC-978C8BBADED1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5" name="Freeform 296">
              <a:extLst>
                <a:ext uri="{FF2B5EF4-FFF2-40B4-BE49-F238E27FC236}">
                  <a16:creationId xmlns:a16="http://schemas.microsoft.com/office/drawing/2014/main" id="{DEFC433D-DFA6-C6DB-868B-0034B35505A8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E107B5-E822-270B-0708-BE46AB76F434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962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17D79C6-6616-1F9D-DA07-C906DABC9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D9FFF46-1307-653D-71BE-B22AA785158A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30CED5D-4ADD-A1CD-B282-7768F9F24B04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EA0D235-14A3-48C7-2BEC-F7D329BC23C0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CDF276-42FB-D9C8-6510-20A339E1C66A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3158159-0447-5776-620B-A34EF8FAF79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5" name="Freeform 296">
              <a:extLst>
                <a:ext uri="{FF2B5EF4-FFF2-40B4-BE49-F238E27FC236}">
                  <a16:creationId xmlns:a16="http://schemas.microsoft.com/office/drawing/2014/main" id="{16CAEF9E-0989-BBC5-FE04-5C4DE308A681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FBA717C-709D-4CF2-69A1-35049F03DA6B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560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5D0691C-4906-0013-2470-D6D221C0B62F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5F352-9787-1EFD-ADC8-1CF372BE0EF6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5DDC5E6-A155-1313-62DA-9E5903EFF95D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1E3719-14F2-A5D9-0100-36829AC1FDF9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B52CC8-DE2D-56AD-2E70-FD2CECE2E93A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CE30210E-9E75-E8A3-54FE-D2EA96B37426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195540B-D103-E9F2-3395-C26EB3AC5855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527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3A1DDC9-8AFD-ECA2-9E62-E11780594C94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25A177A-D694-36BA-65A8-D12417042F37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72B12E9-F251-23C3-C41F-BB00C32B51D7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B751B9-E1E4-05FF-7543-A9390DFC335B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141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8C8C68B-A00A-6004-FFCE-7536A75A9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E85AB4-8FA1-B410-BB86-A9E9BA120FB7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9B81680-EFFE-9C6F-720F-DB5A0582CA63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F8F835-3AA8-3634-662C-738F71627BB1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677E25-8FD4-9E65-0EE4-CB04DE1963DA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382BC45-CC3A-DA8F-24D6-0CBCB66FB202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1B59F876-F77B-C664-F983-F08AAE711A5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2BDBA83-43E0-C58A-A1A1-6E9EE7604E20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025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F3333B-0B32-1559-415A-17213862D8A1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DBD9777-79EC-CED4-D0A6-2C1C06539E15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5BDE6A-B626-BC46-CB20-CED651EFD48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D2D678-894E-1DF7-CFB4-330E0DE848BB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6A04233-4C8B-C75A-A882-C7B7190F4147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A0DDA836-6507-02D1-0E8D-5EF656D5A3A0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C5C3F12-D44B-C406-55B9-2AD369363AC1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467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BC38446-6E92-CA10-A0D0-E2DCFB760B12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5607405-143C-74BC-C258-BFB4219B770D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140FB6C-390B-C827-4C3A-112730AF34DF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1F7E2B-EF7D-CAFC-5807-2E509306ED7F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DEEE612-A9F9-7226-E7B3-764BDF8D2D8B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8845A5C5-E9DD-0CF5-D0F8-101DE9F0BC30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65B26A-FA4A-118B-0C64-00FD836A14BD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961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81297F-030D-1875-D767-895C547F8ACD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C755814-90D7-87D0-760B-1037C2C66DC9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CF2D04-F4E7-C75C-599E-1D5D5DF3DE35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DB1DA0-1DDC-1436-2F72-6D16FC27B760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443BC70-8B18-0255-C696-BDE869576AA9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7" name="Freeform 296">
              <a:extLst>
                <a:ext uri="{FF2B5EF4-FFF2-40B4-BE49-F238E27FC236}">
                  <a16:creationId xmlns:a16="http://schemas.microsoft.com/office/drawing/2014/main" id="{DBD81CE9-E880-50DC-8B15-080978403847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F21F36-692B-3B36-498E-07F665A7BF13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313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590C6C-C886-0ED5-4875-00D9DC9E146A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D684923-987A-B6CD-9B8B-4638CBC46837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2A9C38-3240-82CF-110C-138ED52655D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43D358-D816-6F02-FC3F-B3A8161BB335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2CDDE5B-865C-70D4-0D29-D057AF4F5D5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D4123B61-91B7-CF98-9D86-E74D7D010A3B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711737-7BD5-CDE9-4A9A-D4044CFD0B0C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81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E881CEE-9CC2-952A-DF16-EB72E5BA3737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34B8C6C-2E03-4B88-CD7B-645246CAC822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550384-6995-D31C-7927-1906F7CC27A1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665ED6-E012-0025-EE5D-5A750A29C986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19E72B6-399A-53CA-EA42-A13D9F61C59E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3D3C9BFA-FB34-FB3B-68AE-1E746009F73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7B1201-EF14-299B-0916-DAFA6B10E170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2657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6645693-F76A-1D5B-73AD-40985F9623AC}"/>
              </a:ext>
            </a:extLst>
          </p:cNvPr>
          <p:cNvGrpSpPr/>
          <p:nvPr userDrawn="1"/>
        </p:nvGrpSpPr>
        <p:grpSpPr>
          <a:xfrm>
            <a:off x="10553768" y="5167683"/>
            <a:ext cx="1234690" cy="1334070"/>
            <a:chOff x="10553768" y="5167683"/>
            <a:chExt cx="1234690" cy="133407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87D3A1B-E1D0-6EF8-C61B-BC8324D9BD7F}"/>
                </a:ext>
              </a:extLst>
            </p:cNvPr>
            <p:cNvSpPr/>
            <p:nvPr/>
          </p:nvSpPr>
          <p:spPr>
            <a:xfrm>
              <a:off x="10825545" y="5167683"/>
              <a:ext cx="806428" cy="294324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660C052-BA1C-EAF6-84A8-52D096C6AE66}"/>
                </a:ext>
              </a:extLst>
            </p:cNvPr>
            <p:cNvSpPr/>
            <p:nvPr/>
          </p:nvSpPr>
          <p:spPr>
            <a:xfrm>
              <a:off x="10832599" y="5584376"/>
              <a:ext cx="677029" cy="407919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6EBD1B-5AF7-4EF6-059C-DED33D0833A5}"/>
                </a:ext>
              </a:extLst>
            </p:cNvPr>
            <p:cNvSpPr txBox="1"/>
            <p:nvPr userDrawn="1"/>
          </p:nvSpPr>
          <p:spPr>
            <a:xfrm>
              <a:off x="10553768" y="6095488"/>
              <a:ext cx="1234690" cy="406265"/>
            </a:xfrm>
            <a:prstGeom prst="rect">
              <a:avLst/>
            </a:prstGeom>
            <a:noFill/>
          </p:spPr>
          <p:txBody>
            <a:bodyPr wrap="square" lIns="0" tIns="36576" rIns="0" bIns="0" rtlCol="0" anchor="t">
              <a:spAutoFit/>
            </a:bodyPr>
            <a:lstStyle/>
            <a:p>
              <a:pPr marL="0" indent="0" algn="ctr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Shape the future</a:t>
              </a:r>
              <a:b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</a:br>
              <a:r>
                <a:rPr lang="en-US" sz="1500" b="1" noProof="0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with confidence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8B388F5-3571-EDAF-0C4D-B42DD26CD0D0}"/>
              </a:ext>
            </a:extLst>
          </p:cNvPr>
          <p:cNvGrpSpPr/>
          <p:nvPr userDrawn="1"/>
        </p:nvGrpSpPr>
        <p:grpSpPr>
          <a:xfrm>
            <a:off x="478239" y="6164633"/>
            <a:ext cx="4948471" cy="318770"/>
            <a:chOff x="478239" y="6164633"/>
            <a:chExt cx="4948471" cy="318770"/>
          </a:xfrm>
        </p:grpSpPr>
        <p:sp>
          <p:nvSpPr>
            <p:cNvPr id="6" name="Freeform 296">
              <a:extLst>
                <a:ext uri="{FF2B5EF4-FFF2-40B4-BE49-F238E27FC236}">
                  <a16:creationId xmlns:a16="http://schemas.microsoft.com/office/drawing/2014/main" id="{C4D65A09-5CE5-A0B3-E3B1-4FA4650E19DA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38ECD8-977C-F303-7F82-713C506ECD66}"/>
                </a:ext>
              </a:extLst>
            </p:cNvPr>
            <p:cNvSpPr txBox="1"/>
            <p:nvPr userDrawn="1"/>
          </p:nvSpPr>
          <p:spPr>
            <a:xfrm>
              <a:off x="478239" y="6287195"/>
              <a:ext cx="4948471" cy="196208"/>
            </a:xfrm>
            <a:prstGeom prst="rect">
              <a:avLst/>
            </a:prstGeom>
            <a:noFill/>
          </p:spPr>
          <p:txBody>
            <a:bodyPr wrap="none" lIns="0" tIns="36576" rIns="0" bIns="0" rtlCol="0" anchor="t">
              <a:spAutoFit/>
            </a:bodyPr>
            <a:lstStyle/>
            <a:p>
              <a:pPr marL="0" indent="0" algn="l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>
                  <a:schemeClr val="tx2"/>
                </a:buClr>
                <a:buSzPct val="100000"/>
                <a:buFontTx/>
                <a:buNone/>
              </a:pPr>
              <a:r>
                <a:rPr lang="en-US" sz="1150" noProof="0" dirty="0">
                  <a:solidFill>
                    <a:schemeClr val="bg1"/>
                  </a:solidFill>
                  <a:latin typeface="+mj-lt"/>
                </a:rPr>
                <a:t>The better the question. The better the answer. The better world works.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448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CF46C8-AE12-0D45-3190-0888EA5E5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CFB888F-6783-4B6F-B43A-B64950462B56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3CF5FC1-8EBA-8F68-D0E5-727D21919C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E5FDF1F-8E3A-FB66-7C81-266601DA40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1C765C7-1DD0-DFBB-9089-29849D42BA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50B43463-538D-A50A-4299-A6C5A97376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5329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4CD38E12-E2DA-0644-217F-251AE97F7D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82490CA-64AB-4FF2-AD91-5CA8C52C0E20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C50EF9C-A411-B76F-4417-55EA0CDCAD2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CE13AFD-214E-24E8-0633-0508635B5C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88E5DF2-C2EC-705B-7734-81A5ACCEC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EF38C94-0C58-F9C8-0963-86769B7977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5125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rainbow colored light">
            <a:extLst>
              <a:ext uri="{FF2B5EF4-FFF2-40B4-BE49-F238E27FC236}">
                <a16:creationId xmlns:a16="http://schemas.microsoft.com/office/drawing/2014/main" id="{EDCB01F8-DA5A-9DF0-EAD3-CF53CE81A2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7FF50C-1AD4-461E-B4DD-1C088ACCEA9F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FFE949A-6E9F-DCCB-3981-444F818B70A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E874CEB-2D3F-A7FC-68BB-B1E5B73F85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BE24A05-3707-8B71-381D-4FC6EE679AF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EF9B997-BE91-43C4-F809-E78685E578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5599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317C3E8F-78DB-106C-ED14-34FB490DAA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B5ACD2-8252-41FC-9E5C-AEC3F4579D8E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8A70C5-9B3E-7941-E067-8A9791BCF2D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F0F4F06-C9A4-A997-AB67-59B717C137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63C193D-825D-B7A7-F2EF-F53A601001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44996D9C-EDDB-9A0C-B93D-E5808F8C79D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1152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8CDF89-D6BF-3976-5EE2-E8A4C86C3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7D0729-64C3-47D5-8191-1A5E13E79DD2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2CBC4E2-6D56-5589-38B7-123BB8BE748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D992E6-EAE7-83CF-5B22-7C7DCDB38D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A26C30-C61D-FE6C-E1DC-6A89E2511A9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9AE1E0B-DC05-6DB6-F457-D229556B4C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67811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44AD132-ED4C-4F2D-A40A-BF96E17D1743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2D79ED6-4894-2B8B-D862-974AC88E705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F6B658B-99C5-075E-8FBB-F68A5010C4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D5FE3CF-44B0-DC6A-D098-1142A9EF999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B46547D-1401-03DA-C2CC-733F034C79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pic>
        <p:nvPicPr>
          <p:cNvPr id="3" name="Picture 2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6E25571E-EF82-B0BD-64DF-C9A5D3449C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360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448EADB5-7F9F-E303-6A83-82B81C2C72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AC7752E-6DD5-4E64-89F7-F695A00D1E7D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947DDB-75DB-76B2-ADC5-D93B38D4183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77A9F83-CB8D-4479-6968-8B47D931EE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B1C04DF-19FD-1D5D-56C9-211BF50EB2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7F736-140F-E853-3848-EA573A1B3C5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6122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41CFE3-AEC7-17E3-1C84-D2A40B5E3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41DBD4B0-EFC0-4DF1-A23C-A7A8E6C9EFD8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C73356B1-351A-A1D6-028F-C9736D731FF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EE1F1DF-83E2-9910-8487-D0B14E0DA5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6EFBE9B-F67C-6359-549F-FC22A1C48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AEDED04-6A1F-9E39-1C85-4BA396FAFF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01950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94D2D0-633E-2CCA-0F69-74B83EE39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9323D1-9A80-4F57-A33C-00CD02E56F39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5920F1D-0D06-535C-A00E-C9CA8D25274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8A16D72-94EE-8CC0-084C-EB87F8781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0BB2990-3047-821E-17D7-0DDDFF6CB30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AEE2A3-1722-B883-C7FC-01A81806B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0330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colorful light&#10;&#10;AI-generated content may be incorrect.">
            <a:extLst>
              <a:ext uri="{FF2B5EF4-FFF2-40B4-BE49-F238E27FC236}">
                <a16:creationId xmlns:a16="http://schemas.microsoft.com/office/drawing/2014/main" id="{867231BA-3379-6E09-3D3D-BA75F8B560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" y="0"/>
            <a:ext cx="12187076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2310A2-1DB4-4690-A6E4-0348D6C95970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C0D9E54-A379-A966-154D-4362D29B330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CE3A53-E53C-AAAA-CD1C-C8F1C56FA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3FDBF06-36FA-A0E2-B3E6-78DF243977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84168FE-6E03-EFEE-BF63-87C62DF46A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96774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80AE4CF2-41F8-4416-9ECE-68501092381A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C17B20F9-AA7C-A405-6236-9619CB287E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273647F7-B9AC-34AD-37A2-51B8AB0D58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17985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fld id="{129CD268-B1C7-4A46-B2D2-316BA9297DDB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C1050600-C16E-B87E-A2FD-AE302C51009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2358EBAA-AAE1-278D-A8F7-2D66E11CDE4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88436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8663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right light in the dark&#10;&#10;AI-generated content may be incorrect.">
            <a:extLst>
              <a:ext uri="{FF2B5EF4-FFF2-40B4-BE49-F238E27FC236}">
                <a16:creationId xmlns:a16="http://schemas.microsoft.com/office/drawing/2014/main" id="{CC8F593D-AF82-AB7C-CEAB-E4AD19CF2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587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59436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able Placeholder 4">
            <a:extLst>
              <a:ext uri="{FF2B5EF4-FFF2-40B4-BE49-F238E27FC236}">
                <a16:creationId xmlns:a16="http://schemas.microsoft.com/office/drawing/2014/main" id="{C5AC4C92-885D-49C5-B704-597DE68FC006}"/>
              </a:ext>
            </a:extLst>
          </p:cNvPr>
          <p:cNvSpPr txBox="1">
            <a:spLocks/>
          </p:cNvSpPr>
          <p:nvPr userDrawn="1"/>
        </p:nvSpPr>
        <p:spPr>
          <a:xfrm>
            <a:off x="813224" y="1137922"/>
            <a:ext cx="6610006" cy="42674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IN" sz="1999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04A2E968-DBA8-4BD3-8F8F-9B23825BC4D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2" y="907750"/>
            <a:ext cx="1101171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18B73-555A-4F14-931F-DAE40AC2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89CE-EFF7-4394-B108-2D85BF66007D}" type="datetime3">
              <a:rPr lang="en-US" smtClean="0"/>
              <a:t>22 February 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FC2ED-0BA0-4018-BDCE-AA7E8B55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9BB1-9F3B-419B-872D-8849B20B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376" y="6437115"/>
            <a:ext cx="884088" cy="12311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90388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28B2B-ED84-D8B9-C6E0-AF4BC1706BD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B408C-772D-4848-9C1B-62A1883586B1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FBA85-AB9A-E34B-448A-B5BB1CE520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081B-AFD3-2CFE-BC00-E7A7205688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90281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6AB26-9244-40C1-837D-9189EB7D7925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9"/>
            <a:ext cx="5610479" cy="4638673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8C567-2561-2AD2-63FE-0886450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561047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8" name="SmartArt Placeholder 13">
            <a:extLst>
              <a:ext uri="{FF2B5EF4-FFF2-40B4-BE49-F238E27FC236}">
                <a16:creationId xmlns:a16="http://schemas.microsoft.com/office/drawing/2014/main" id="{22E94658-5E5F-713F-D9E0-D9B1BA7B8DE6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9" name="SmartArt Placeholder 14">
            <a:extLst>
              <a:ext uri="{FF2B5EF4-FFF2-40B4-BE49-F238E27FC236}">
                <a16:creationId xmlns:a16="http://schemas.microsoft.com/office/drawing/2014/main" id="{B9319F0D-BF5B-DAC6-565F-071837332CE2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15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90216A6-D7C1-4438-A751-6C2C58F1FDA0}" type="datetime3">
              <a:rPr lang="en-US" smtClean="0"/>
              <a:t>22 February 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171860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889762" y="4096824"/>
            <a:ext cx="4907628" cy="511939"/>
          </a:xfrm>
        </p:spPr>
        <p:txBody>
          <a:bodyPr/>
          <a:lstStyle/>
          <a:p>
            <a:r>
              <a:rPr dirty="0"/>
              <a:t>Real-World Project &amp; Interview Readiness</a:t>
            </a:r>
          </a:p>
          <a:p>
            <a:r>
              <a:rPr dirty="0"/>
              <a:t>Date: 2</a:t>
            </a:r>
            <a:r>
              <a:rPr baseline="30000" dirty="0"/>
              <a:t>nd</a:t>
            </a:r>
            <a:r>
              <a:rPr dirty="0"/>
              <a:t> March 2026</a:t>
            </a:r>
          </a:p>
          <a:p>
            <a:r>
              <a:rPr dirty="0"/>
              <a:t>Duration: 2 hours</a:t>
            </a:r>
          </a:p>
          <a:p>
            <a:r>
              <a:rPr dirty="0"/>
              <a:t>Presenter: [Vishnu Shankar]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5: Cypress Training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562705" y="2979199"/>
            <a:ext cx="4906010" cy="246221"/>
          </a:xfr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Introduction</a:t>
            </a:r>
          </a:p>
          <a:p>
            <a:r>
              <a:rPr dirty="0"/>
              <a:t>Scalable Framework Design</a:t>
            </a:r>
          </a:p>
          <a:p>
            <a:r>
              <a:rPr dirty="0"/>
              <a:t>Best Design Practices</a:t>
            </a:r>
          </a:p>
          <a:p>
            <a:r>
              <a:rPr dirty="0"/>
              <a:t>Debugging Techniques</a:t>
            </a:r>
          </a:p>
          <a:p>
            <a:r>
              <a:rPr dirty="0"/>
              <a:t>Test Data Strategy</a:t>
            </a:r>
          </a:p>
          <a:p>
            <a:r>
              <a:rPr dirty="0"/>
              <a:t>Cypress vs Selenium</a:t>
            </a:r>
          </a:p>
          <a:p>
            <a:r>
              <a:rPr dirty="0"/>
              <a:t>Hands-on Implementation</a:t>
            </a:r>
          </a:p>
          <a:p>
            <a:r>
              <a:rPr dirty="0"/>
              <a:t>Key Takeaways</a:t>
            </a:r>
          </a:p>
          <a:p>
            <a:r>
              <a:rPr dirty="0"/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Scalable Framework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lang="en-IN" dirty="0"/>
              <a:t>Use a </a:t>
            </a:r>
            <a:r>
              <a:rPr lang="en-IN" b="1" dirty="0"/>
              <a:t>modular and layered design</a:t>
            </a:r>
            <a:r>
              <a:rPr lang="en-IN" dirty="0"/>
              <a:t> (UI + API + utilities + commands)</a:t>
            </a:r>
            <a:r>
              <a:rPr dirty="0"/>
              <a:t>.</a:t>
            </a:r>
            <a:endParaRPr lang="en-IN" dirty="0"/>
          </a:p>
          <a:p>
            <a:r>
              <a:rPr lang="en-IN" dirty="0"/>
              <a:t>Maintain </a:t>
            </a:r>
            <a:r>
              <a:rPr lang="en-IN" b="1" dirty="0"/>
              <a:t>clean separation of concerns</a:t>
            </a:r>
            <a:r>
              <a:rPr lang="en-IN" dirty="0"/>
              <a:t> and reusable components</a:t>
            </a:r>
          </a:p>
          <a:p>
            <a:r>
              <a:rPr lang="en-IN" dirty="0"/>
              <a:t>Use </a:t>
            </a:r>
            <a:r>
              <a:rPr lang="en-IN" b="1" dirty="0"/>
              <a:t>environment-specific config files</a:t>
            </a:r>
            <a:r>
              <a:rPr lang="en-IN" dirty="0"/>
              <a:t> for flexibility</a:t>
            </a:r>
          </a:p>
          <a:p>
            <a:r>
              <a:rPr lang="en-IN" dirty="0"/>
              <a:t>Apply </a:t>
            </a:r>
            <a:r>
              <a:rPr lang="en-IN" b="1" dirty="0"/>
              <a:t>environment variables</a:t>
            </a:r>
            <a:r>
              <a:rPr lang="en-IN" dirty="0"/>
              <a:t> for security and dynamic configuration</a:t>
            </a:r>
          </a:p>
          <a:p>
            <a:r>
              <a:rPr lang="en-IN" dirty="0"/>
              <a:t>Leverage </a:t>
            </a:r>
            <a:r>
              <a:rPr lang="en-IN" b="1" dirty="0"/>
              <a:t>plugins</a:t>
            </a:r>
            <a:r>
              <a:rPr lang="en-IN" dirty="0"/>
              <a:t> to add reporting, tasks, filtering, and file operations</a:t>
            </a:r>
          </a:p>
          <a:p>
            <a:r>
              <a:rPr lang="en-IN" dirty="0"/>
              <a:t>Keep tests </a:t>
            </a:r>
            <a:r>
              <a:rPr lang="en-IN" b="1" dirty="0"/>
              <a:t>independent, readable, and maintainable</a:t>
            </a:r>
            <a:endParaRPr dirty="0"/>
          </a:p>
          <a:p>
            <a:pPr lvl="0"/>
            <a:r>
              <a:rPr lang="en-IN" dirty="0"/>
              <a:t>Build a framework that scales to </a:t>
            </a:r>
            <a:r>
              <a:rPr lang="en-IN" b="1" dirty="0"/>
              <a:t>hundreds or thousands</a:t>
            </a:r>
            <a:r>
              <a:rPr lang="en-IN" dirty="0"/>
              <a:t> of tests</a:t>
            </a:r>
          </a:p>
          <a:p>
            <a:r>
              <a:rPr dirty="0"/>
              <a:t>Integrate plugins effectively for better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Best Design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dirty="0"/>
              <a:t>Write </a:t>
            </a:r>
            <a:r>
              <a:rPr lang="en-IN" b="1" dirty="0"/>
              <a:t>clean, readable tests</a:t>
            </a:r>
            <a:r>
              <a:rPr lang="en-IN" dirty="0"/>
              <a:t> for collaboration and easier onboarding</a:t>
            </a:r>
          </a:p>
          <a:p>
            <a:pPr lvl="0"/>
            <a:r>
              <a:rPr lang="en-IN" dirty="0"/>
              <a:t>Focus on </a:t>
            </a:r>
            <a:r>
              <a:rPr lang="en-IN" b="1" dirty="0"/>
              <a:t>execution speed</a:t>
            </a:r>
            <a:r>
              <a:rPr lang="en-IN" dirty="0"/>
              <a:t> using API workflows, intercepts, and headless runs</a:t>
            </a:r>
          </a:p>
          <a:p>
            <a:pPr lvl="0"/>
            <a:r>
              <a:rPr lang="en-IN" dirty="0"/>
              <a:t>Maintain and update </a:t>
            </a:r>
            <a:r>
              <a:rPr lang="en-IN" b="1" dirty="0"/>
              <a:t>dependencies regularly</a:t>
            </a:r>
            <a:r>
              <a:rPr lang="en-IN" dirty="0"/>
              <a:t> to ensure stability and compatibility</a:t>
            </a:r>
          </a:p>
          <a:p>
            <a:r>
              <a:rPr lang="en-IN" dirty="0"/>
              <a:t>Use DRY principles, custom commands, and clear naming conventions</a:t>
            </a:r>
          </a:p>
          <a:p>
            <a:r>
              <a:rPr lang="en-IN" dirty="0"/>
              <a:t>Ensure selector reliability using data-cy attributes</a:t>
            </a:r>
          </a:p>
          <a:p>
            <a:r>
              <a:rPr lang="en-IN" dirty="0"/>
              <a:t>Separate tests by purpose (smoke, regression, functional)</a:t>
            </a:r>
          </a:p>
          <a:p>
            <a:r>
              <a:rPr lang="en-IN" dirty="0"/>
              <a:t>Optimize CI/CD execution to support long-term scalability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Debugging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dirty="0"/>
              <a:t>Use Cypress' </a:t>
            </a:r>
            <a:r>
              <a:rPr lang="en-IN" b="1" dirty="0"/>
              <a:t>built-in debugging tools</a:t>
            </a:r>
            <a:r>
              <a:rPr lang="en-IN" dirty="0"/>
              <a:t> (</a:t>
            </a:r>
            <a:r>
              <a:rPr lang="en-IN" dirty="0" err="1"/>
              <a:t>cy.pause</a:t>
            </a:r>
            <a:r>
              <a:rPr lang="en-IN" dirty="0"/>
              <a:t>(), </a:t>
            </a:r>
            <a:r>
              <a:rPr lang="en-IN" dirty="0" err="1"/>
              <a:t>cy.debug</a:t>
            </a:r>
            <a:r>
              <a:rPr lang="en-IN" dirty="0"/>
              <a:t>(), snapshots, </a:t>
            </a:r>
            <a:r>
              <a:rPr lang="en-IN" dirty="0" err="1"/>
              <a:t>DevTools</a:t>
            </a:r>
            <a:r>
              <a:rPr lang="en-IN" dirty="0"/>
              <a:t>)</a:t>
            </a:r>
          </a:p>
          <a:p>
            <a:pPr lvl="0"/>
            <a:r>
              <a:rPr lang="en-IN" dirty="0"/>
              <a:t>Increase verbosity using logs, intercepts, request details &amp; CI output</a:t>
            </a:r>
          </a:p>
          <a:p>
            <a:pPr lvl="0"/>
            <a:r>
              <a:rPr lang="en-IN" dirty="0"/>
              <a:t>Avoid brittle selectors — use </a:t>
            </a:r>
            <a:r>
              <a:rPr lang="en-IN" b="1" dirty="0"/>
              <a:t>data‑cy</a:t>
            </a:r>
            <a:r>
              <a:rPr lang="en-IN" dirty="0"/>
              <a:t> attributes for long-term stability</a:t>
            </a:r>
          </a:p>
          <a:p>
            <a:r>
              <a:rPr lang="en-IN" dirty="0"/>
              <a:t>Use locator centralization &amp; custom commands to simplify debugging</a:t>
            </a:r>
          </a:p>
          <a:p>
            <a:r>
              <a:rPr lang="en-IN" dirty="0"/>
              <a:t>Combine UI + network logs to pinpoint the root cause quickly</a:t>
            </a:r>
          </a:p>
          <a:p>
            <a:pPr marL="0" lv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Test Data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b="1" dirty="0"/>
              <a:t>Centralize test data</a:t>
            </a:r>
            <a:r>
              <a:rPr lang="en-IN" dirty="0"/>
              <a:t> in fixtures, data services, and shared layers for consistency</a:t>
            </a:r>
          </a:p>
          <a:p>
            <a:pPr lvl="0"/>
            <a:r>
              <a:rPr lang="en-IN" dirty="0"/>
              <a:t>Use </a:t>
            </a:r>
            <a:r>
              <a:rPr lang="en-IN" b="1" dirty="0"/>
              <a:t>API-driven dynamic data</a:t>
            </a:r>
            <a:r>
              <a:rPr lang="en-IN" dirty="0"/>
              <a:t> to avoid hardcoding and reduce flakiness</a:t>
            </a:r>
          </a:p>
          <a:p>
            <a:pPr lvl="0"/>
            <a:r>
              <a:rPr lang="en-IN" b="1" dirty="0"/>
              <a:t>Refresh test data periodically</a:t>
            </a:r>
            <a:r>
              <a:rPr lang="en-IN" dirty="0"/>
              <a:t> to keep it accurate, stable, and aligned with product changes</a:t>
            </a:r>
          </a:p>
          <a:p>
            <a:r>
              <a:rPr lang="en-IN" dirty="0"/>
              <a:t>Combine static + dynamic data for flexible, scalable test scenarios</a:t>
            </a:r>
          </a:p>
          <a:p>
            <a:r>
              <a:rPr lang="en-IN" dirty="0"/>
              <a:t>Avoid data collisions using unique identifiers in parallel pipelines</a:t>
            </a:r>
          </a:p>
          <a:p>
            <a:r>
              <a:rPr lang="en-IN" dirty="0"/>
              <a:t>Implement cleanup/reset strategies to maintain reliable test states</a:t>
            </a:r>
          </a:p>
          <a:p>
            <a:pPr marL="0" lv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Cypress vs Selenium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956856"/>
          </a:xfrm>
        </p:spPr>
        <p:txBody>
          <a:bodyPr/>
          <a:lstStyle/>
          <a:p>
            <a:r>
              <a:rPr lang="en-IN" sz="2400" dirty="0"/>
              <a:t>Cypress</a:t>
            </a:r>
            <a:endParaRPr sz="2400" dirty="0"/>
          </a:p>
          <a:p>
            <a:pPr lvl="0"/>
            <a:r>
              <a:rPr lang="en-IN" dirty="0"/>
              <a:t>Faster development + auto-waiting</a:t>
            </a:r>
          </a:p>
          <a:p>
            <a:r>
              <a:rPr lang="en-IN" dirty="0"/>
              <a:t>Ideal for modern web apps</a:t>
            </a:r>
            <a:r>
              <a:rPr dirty="0"/>
              <a:t>.</a:t>
            </a:r>
          </a:p>
          <a:p>
            <a:r>
              <a:rPr lang="en-IN" dirty="0"/>
              <a:t>Built‑in, visual debugging</a:t>
            </a:r>
          </a:p>
          <a:p>
            <a:r>
              <a:rPr lang="en-IN" dirty="0"/>
              <a:t>Great for component + e2e hybrid testing</a:t>
            </a:r>
          </a:p>
          <a:p>
            <a:r>
              <a:rPr lang="en-IN" dirty="0"/>
              <a:t>Limited to modern browsers (Chrome-family, Firefox, Edge)</a:t>
            </a:r>
          </a:p>
          <a:p>
            <a:r>
              <a:rPr lang="en-IN" sz="2400" dirty="0"/>
              <a:t>Selenium</a:t>
            </a:r>
          </a:p>
          <a:p>
            <a:r>
              <a:rPr lang="en-IN" dirty="0"/>
              <a:t>Supports the broadest range of browsers &amp; platforms</a:t>
            </a:r>
          </a:p>
          <a:p>
            <a:r>
              <a:rPr lang="en-IN" dirty="0"/>
              <a:t>Works with mobile via Appium</a:t>
            </a:r>
          </a:p>
          <a:p>
            <a:r>
              <a:rPr lang="en-IN" dirty="0"/>
              <a:t>Ideal for enterprise cross-browser testing needs</a:t>
            </a:r>
          </a:p>
          <a:p>
            <a:r>
              <a:rPr lang="en-IN" dirty="0"/>
              <a:t>Debugging requires external tools</a:t>
            </a:r>
          </a:p>
          <a:p>
            <a:r>
              <a:rPr lang="en-IN" dirty="0"/>
              <a:t>Multi-language ecosystem (Java, Python, C#, JS, etc.)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Hands-on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pPr lvl="0"/>
            <a:r>
              <a:rPr lang="en-IN" dirty="0"/>
              <a:t>Build a </a:t>
            </a:r>
            <a:r>
              <a:rPr lang="en-IN" b="1" dirty="0"/>
              <a:t>simple but scalable</a:t>
            </a:r>
            <a:r>
              <a:rPr lang="en-IN" dirty="0"/>
              <a:t> Cypress framework with clean architecture</a:t>
            </a:r>
          </a:p>
          <a:p>
            <a:pPr lvl="0"/>
            <a:r>
              <a:rPr lang="en-IN" dirty="0"/>
              <a:t>Practice Cypress debugging using </a:t>
            </a:r>
            <a:r>
              <a:rPr lang="en-IN" b="1" dirty="0"/>
              <a:t>pause, debug, intercept, snapshots</a:t>
            </a:r>
            <a:endParaRPr lang="en-IN" dirty="0"/>
          </a:p>
          <a:p>
            <a:pPr lvl="0"/>
            <a:r>
              <a:rPr lang="en-IN" dirty="0"/>
              <a:t>Use </a:t>
            </a:r>
            <a:r>
              <a:rPr lang="en-IN" b="1" dirty="0"/>
              <a:t>Page Objects, custom commands, and utilities</a:t>
            </a:r>
            <a:r>
              <a:rPr lang="en-IN" dirty="0"/>
              <a:t> to structure tests</a:t>
            </a:r>
          </a:p>
          <a:p>
            <a:r>
              <a:rPr lang="en-IN" dirty="0"/>
              <a:t>Focus on </a:t>
            </a:r>
            <a:r>
              <a:rPr lang="en-IN" b="1" dirty="0"/>
              <a:t>modularity, readability, and maintainability</a:t>
            </a:r>
            <a:endParaRPr lang="en-IN" dirty="0"/>
          </a:p>
          <a:p>
            <a:r>
              <a:rPr lang="en-IN" dirty="0"/>
              <a:t>Execute tests using real-world flows combining </a:t>
            </a:r>
            <a:r>
              <a:rPr lang="en-IN" b="1" dirty="0"/>
              <a:t>UI + API</a:t>
            </a:r>
            <a:endParaRPr lang="en-IN" dirty="0"/>
          </a:p>
          <a:p>
            <a:r>
              <a:rPr lang="en-IN" dirty="0"/>
              <a:t>Strengthen collaboration and team debugging skills</a:t>
            </a:r>
          </a:p>
          <a:p>
            <a:pPr lvl="0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/>
          </a:p>
          <a:p>
            <a:r>
              <a:t>Understand scalable framework design concepts.</a:t>
            </a:r>
          </a:p>
          <a:p>
            <a:r>
              <a:t>Learn to debug efficiently and accurately.</a:t>
            </a:r>
          </a:p>
          <a:p>
            <a:r>
              <a:t>Apply strategies for effective test data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/>
          </a:p>
          <a:p>
            <a:r>
              <a:t>Feel free to ask questions.</a:t>
            </a:r>
          </a:p>
          <a:p>
            <a:r>
              <a:t>Discuss Cypress challenges and solutions.</a:t>
            </a:r>
          </a:p>
          <a:p>
            <a:r>
              <a:t>Share feedback and suggestions.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Focus on Component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Layer framework to separate concerns.</a:t>
            </a:r>
          </a:p>
          <a:p>
            <a:r>
              <a:rPr dirty="0"/>
              <a:t>Use Page Object Model for elements management.</a:t>
            </a:r>
          </a:p>
          <a:p>
            <a:r>
              <a:rPr dirty="0"/>
              <a:t>Create utilities for reusable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/>
          </a:p>
          <a:p>
            <a:r>
              <a:t>AI in testing: Emerging capabilities.</a:t>
            </a:r>
          </a:p>
          <a:p>
            <a:r>
              <a:t>CI/CD integration trends.</a:t>
            </a:r>
          </a:p>
          <a:p>
            <a:r>
              <a:t>Shift-Left Testing: Encouraging early involvement.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/>
          </a:p>
          <a:p>
            <a:r>
              <a:t>Overlooking test environment issues.</a:t>
            </a:r>
          </a:p>
          <a:p>
            <a:r>
              <a:t>Not maintaining a version-controlled framework.</a:t>
            </a:r>
          </a:p>
          <a:p>
            <a:r>
              <a:t>Skipping regular test maintenance cycles.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CI/CD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/>
          </a:p>
          <a:p>
            <a:r>
              <a:t>Automate test runs in CI tools like Jenkins or GitLab.</a:t>
            </a:r>
          </a:p>
          <a:p>
            <a:r>
              <a:t>Immediate feedback to developers enhances collaboration.</a:t>
            </a:r>
          </a:p>
          <a:p>
            <a:r>
              <a:t>Monitor performance post-merge of automated runs.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/>
          </a:p>
          <a:p>
            <a:r>
              <a:t>Thank you for your participation.</a:t>
            </a:r>
          </a:p>
          <a:p>
            <a:r>
              <a:t>Continue exploring testing techniques.</a:t>
            </a:r>
          </a:p>
          <a:p>
            <a:r>
              <a:t>Keep refining your frameworks for excellence.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-global-widescreen-presentation-template-v2.4.potx" id="{FF47DC87-4AF3-4D5F-88A3-1A611FD73713}" vid="{CB1ACC43-5325-4A4C-8759-2237F5CEFB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634</Words>
  <Application>Microsoft Office PowerPoint</Application>
  <PresentationFormat>Widescreen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Arial Narrow</vt:lpstr>
      <vt:lpstr>EYInterstate</vt:lpstr>
      <vt:lpstr>EYInterstate Light</vt:lpstr>
      <vt:lpstr>Georgia Pro</vt:lpstr>
      <vt:lpstr>Wingdings</vt:lpstr>
      <vt:lpstr>EY Core Slides</vt:lpstr>
      <vt:lpstr>Day 5: Cypress Training</vt:lpstr>
      <vt:lpstr>Agenda</vt:lpstr>
      <vt:lpstr>Scalable Framework Design</vt:lpstr>
      <vt:lpstr>Best Design Practices</vt:lpstr>
      <vt:lpstr>Debugging Techniques</vt:lpstr>
      <vt:lpstr>Test Data Strategy</vt:lpstr>
      <vt:lpstr>Cypress vs Selenium</vt:lpstr>
      <vt:lpstr>Hands-on Implementation</vt:lpstr>
      <vt:lpstr>Key Takeaways</vt:lpstr>
      <vt:lpstr>Q&amp;A</vt:lpstr>
      <vt:lpstr>Focus on Component Architecture</vt:lpstr>
      <vt:lpstr>Future of Testing</vt:lpstr>
      <vt:lpstr>Common Mistakes to Avoid</vt:lpstr>
      <vt:lpstr>Integration with CI/CD Pipelines</vt:lpstr>
      <vt:lpstr>Closing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Edgar Medrano</dc:creator>
  <cp:lastModifiedBy>Vishnu Shankar</cp:lastModifiedBy>
  <cp:revision>18</cp:revision>
  <dcterms:created xsi:type="dcterms:W3CDTF">2025-07-15T16:08:23Z</dcterms:created>
  <dcterms:modified xsi:type="dcterms:W3CDTF">2026-02-21T19:17:30Z</dcterms:modified>
</cp:coreProperties>
</file>